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jpg" ContentType="image/jp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194352"/>
            <a:ext cx="7808595" cy="4579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585834" y="6447975"/>
            <a:ext cx="2667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i.org/10.1016/j.ssci.2023.106214" TargetMode="External"/><Relationship Id="rId3" Type="http://schemas.openxmlformats.org/officeDocument/2006/relationships/hyperlink" Target="https://doi.org/10.1016/j.ssci.2025.106804" TargetMode="External"/><Relationship Id="rId4" Type="http://schemas.openxmlformats.org/officeDocument/2006/relationships/hyperlink" Target="https://doi.org/10.1016/j.simpa.2025.100790" TargetMode="Externa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22250" y="298450"/>
          <a:ext cx="8728710" cy="57867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7010"/>
                <a:gridCol w="352425"/>
                <a:gridCol w="4191635"/>
                <a:gridCol w="2620645"/>
              </a:tblGrid>
              <a:tr h="175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255270" marR="248920" indent="-63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S.S.V.P.S’s</a:t>
                      </a:r>
                      <a:r>
                        <a:rPr dirty="0" sz="28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B.</a:t>
                      </a:r>
                      <a:r>
                        <a:rPr dirty="0" sz="2800" spc="-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dirty="0" sz="2800" spc="-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Deore</a:t>
                      </a:r>
                      <a:r>
                        <a:rPr dirty="0" sz="2800" spc="-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Polytechnic,</a:t>
                      </a:r>
                      <a:r>
                        <a:rPr dirty="0" sz="2800" spc="-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Dhule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Department</a:t>
                      </a:r>
                      <a:r>
                        <a:rPr dirty="0" sz="32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32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dirty="0" sz="32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Engineering </a:t>
                      </a:r>
                      <a:r>
                        <a:rPr dirty="0" sz="32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Academic</a:t>
                      </a:r>
                      <a:r>
                        <a:rPr dirty="0" sz="3200" spc="-3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3200" spc="-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dirty="0" sz="3200" spc="-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2026-</a:t>
                      </a:r>
                      <a:r>
                        <a:rPr dirty="0" sz="3200" spc="-2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2027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93090">
                <a:tc gridSpan="4">
                  <a:txBody>
                    <a:bodyPr/>
                    <a:lstStyle/>
                    <a:p>
                      <a:pPr marL="31051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SEMINAR</a:t>
                      </a:r>
                      <a:r>
                        <a:rPr dirty="0" sz="2800" spc="-11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800" spc="-10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dirty="0" sz="2800" spc="-105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-1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INITIATION</a:t>
                      </a:r>
                      <a:r>
                        <a:rPr dirty="0" sz="2800" spc="-11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-1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COURSE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88315">
                <a:tc grid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21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Sem</a:t>
                      </a:r>
                      <a:r>
                        <a:rPr dirty="0" sz="2100" spc="-15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dirty="0" sz="2100" spc="-1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CO</a:t>
                      </a:r>
                      <a:r>
                        <a:rPr dirty="0" sz="2100" spc="-1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2100" spc="-2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5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4904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240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SPI</a:t>
                      </a:r>
                      <a:r>
                        <a:rPr dirty="0" sz="2400" spc="-3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2400" spc="-25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315003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21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Date</a:t>
                      </a:r>
                      <a:r>
                        <a:rPr dirty="0" sz="2100" spc="48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5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8315">
                <a:tc gridSpan="4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2400" b="1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Topic</a:t>
                      </a:r>
                      <a:r>
                        <a:rPr dirty="0" sz="2400" spc="-35" b="1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dirty="0" sz="2400" spc="-35" b="1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Industrial</a:t>
                      </a:r>
                      <a:r>
                        <a:rPr dirty="0" sz="2400" spc="-45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Immersive</a:t>
                      </a:r>
                      <a:r>
                        <a:rPr dirty="0" sz="2400" spc="-55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dirty="0" sz="2400" spc="-45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Platform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11175">
                <a:tc gridSpan="2">
                  <a:txBody>
                    <a:bodyPr/>
                    <a:lstStyle/>
                    <a:p>
                      <a:pPr marL="3810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2400" b="1">
                          <a:latin typeface="Times New Roman"/>
                          <a:cs typeface="Times New Roman"/>
                        </a:rPr>
                        <a:t>Roll </a:t>
                      </a:r>
                      <a:r>
                        <a:rPr dirty="0" sz="2400" spc="-25" b="1">
                          <a:latin typeface="Times New Roman"/>
                          <a:cs typeface="Times New Roman"/>
                        </a:rPr>
                        <a:t>No.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8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2400" b="1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24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24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 b="1">
                          <a:latin typeface="Times New Roman"/>
                          <a:cs typeface="Times New Roman"/>
                        </a:rPr>
                        <a:t>Student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8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8831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2000" spc="-25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14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38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Purva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Vikas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Bhamare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38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8831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2000" spc="-25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34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38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Shubhangi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Sanjay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Kedar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38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8831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2200" spc="-25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39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9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Prajakta</a:t>
                      </a:r>
                      <a:r>
                        <a:rPr dirty="0" sz="20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Chetan</a:t>
                      </a:r>
                      <a:r>
                        <a:rPr dirty="0" sz="20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Mahale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38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8831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2200" spc="-25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46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9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Mansi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Pradip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Nandre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38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 descr="ssvpslogo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57200"/>
            <a:ext cx="1219200" cy="16272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8575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dirty="0" sz="4400" spc="-10"/>
              <a:t>Contents</a:t>
            </a:r>
            <a:endParaRPr sz="4400"/>
          </a:p>
        </p:txBody>
      </p:sp>
      <p:sp>
        <p:nvSpPr>
          <p:cNvPr id="2" name="object 2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66419" y="1179931"/>
            <a:ext cx="5908675" cy="503174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497205" indent="-48450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497205" algn="l"/>
              </a:tabLst>
            </a:pPr>
            <a:r>
              <a:rPr dirty="0" sz="2000" spc="-10">
                <a:latin typeface="Times New Roman"/>
                <a:cs typeface="Times New Roman"/>
              </a:rPr>
              <a:t>Certificate</a:t>
            </a:r>
            <a:endParaRPr sz="2000">
              <a:latin typeface="Times New Roman"/>
              <a:cs typeface="Times New Roman"/>
            </a:endParaRPr>
          </a:p>
          <a:p>
            <a:pPr marL="497205" indent="-48450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497205" algn="l"/>
              </a:tabLst>
            </a:pPr>
            <a:r>
              <a:rPr dirty="0" sz="2000" spc="-10">
                <a:latin typeface="Times New Roman"/>
                <a:cs typeface="Times New Roman"/>
              </a:rPr>
              <a:t>Abstract</a:t>
            </a:r>
            <a:endParaRPr sz="2000">
              <a:latin typeface="Times New Roman"/>
              <a:cs typeface="Times New Roman"/>
            </a:endParaRPr>
          </a:p>
          <a:p>
            <a:pPr marL="497205" indent="-484505">
              <a:lnSpc>
                <a:spcPct val="100000"/>
              </a:lnSpc>
              <a:spcBef>
                <a:spcPts val="254"/>
              </a:spcBef>
              <a:buAutoNum type="arabicPeriod"/>
              <a:tabLst>
                <a:tab pos="497205" algn="l"/>
              </a:tabLst>
            </a:pPr>
            <a:r>
              <a:rPr dirty="0" sz="2000" spc="-10">
                <a:latin typeface="Times New Roman"/>
                <a:cs typeface="Times New Roman"/>
              </a:rPr>
              <a:t>Introduction</a:t>
            </a:r>
            <a:endParaRPr sz="2000">
              <a:latin typeface="Times New Roman"/>
              <a:cs typeface="Times New Roman"/>
            </a:endParaRPr>
          </a:p>
          <a:p>
            <a:pPr marL="497205" indent="-484505">
              <a:lnSpc>
                <a:spcPct val="100000"/>
              </a:lnSpc>
              <a:spcBef>
                <a:spcPts val="265"/>
              </a:spcBef>
              <a:buAutoNum type="arabicPeriod"/>
              <a:tabLst>
                <a:tab pos="497205" algn="l"/>
              </a:tabLst>
            </a:pPr>
            <a:r>
              <a:rPr dirty="0" sz="2000">
                <a:latin typeface="Times New Roman"/>
                <a:cs typeface="Times New Roman"/>
              </a:rPr>
              <a:t>Literature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Review</a:t>
            </a:r>
            <a:endParaRPr sz="2000">
              <a:latin typeface="Times New Roman"/>
              <a:cs typeface="Times New Roman"/>
            </a:endParaRPr>
          </a:p>
          <a:p>
            <a:pPr marL="497205" indent="-484505">
              <a:lnSpc>
                <a:spcPct val="100000"/>
              </a:lnSpc>
              <a:spcBef>
                <a:spcPts val="265"/>
              </a:spcBef>
              <a:buAutoNum type="arabicPeriod"/>
              <a:tabLst>
                <a:tab pos="497205" algn="l"/>
              </a:tabLst>
            </a:pPr>
            <a:r>
              <a:rPr dirty="0" sz="2000">
                <a:latin typeface="Times New Roman"/>
                <a:cs typeface="Times New Roman"/>
              </a:rPr>
              <a:t>Information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Seminar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topic</a:t>
            </a:r>
            <a:endParaRPr sz="2000">
              <a:latin typeface="Times New Roman"/>
              <a:cs typeface="Times New Roman"/>
            </a:endParaRPr>
          </a:p>
          <a:p>
            <a:pPr marL="497205" indent="-484505">
              <a:lnSpc>
                <a:spcPct val="100000"/>
              </a:lnSpc>
              <a:spcBef>
                <a:spcPts val="250"/>
              </a:spcBef>
              <a:buAutoNum type="arabicPeriod"/>
              <a:tabLst>
                <a:tab pos="497205" algn="l"/>
              </a:tabLst>
            </a:pPr>
            <a:r>
              <a:rPr dirty="0" sz="2000">
                <a:latin typeface="Times New Roman"/>
                <a:cs typeface="Times New Roman"/>
              </a:rPr>
              <a:t>Advantages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Disadvantages</a:t>
            </a:r>
            <a:endParaRPr sz="2000">
              <a:latin typeface="Times New Roman"/>
              <a:cs typeface="Times New Roman"/>
            </a:endParaRPr>
          </a:p>
          <a:p>
            <a:pPr marL="497205" indent="-484505">
              <a:lnSpc>
                <a:spcPct val="100000"/>
              </a:lnSpc>
              <a:spcBef>
                <a:spcPts val="265"/>
              </a:spcBef>
              <a:buAutoNum type="arabicPeriod"/>
              <a:tabLst>
                <a:tab pos="497205" algn="l"/>
              </a:tabLst>
            </a:pPr>
            <a:r>
              <a:rPr dirty="0" sz="2000" spc="-10">
                <a:latin typeface="Times New Roman"/>
                <a:cs typeface="Times New Roman"/>
              </a:rPr>
              <a:t>Conclusion</a:t>
            </a:r>
            <a:endParaRPr sz="2000">
              <a:latin typeface="Times New Roman"/>
              <a:cs typeface="Times New Roman"/>
            </a:endParaRPr>
          </a:p>
          <a:p>
            <a:pPr marL="497205" indent="-484505">
              <a:lnSpc>
                <a:spcPct val="100000"/>
              </a:lnSpc>
              <a:spcBef>
                <a:spcPts val="265"/>
              </a:spcBef>
              <a:buAutoNum type="arabicPeriod"/>
              <a:tabLst>
                <a:tab pos="497205" algn="l"/>
              </a:tabLst>
            </a:pPr>
            <a:r>
              <a:rPr dirty="0" sz="2000">
                <a:latin typeface="Times New Roman"/>
                <a:cs typeface="Times New Roman"/>
              </a:rPr>
              <a:t>Project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Initiation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5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lvl="1" marL="1170305" indent="-444500">
              <a:lnSpc>
                <a:spcPct val="100000"/>
              </a:lnSpc>
              <a:spcBef>
                <a:spcPts val="155"/>
              </a:spcBef>
              <a:buAutoNum type="arabicPeriod"/>
              <a:tabLst>
                <a:tab pos="1170305" algn="l"/>
              </a:tabLst>
            </a:pPr>
            <a:r>
              <a:rPr dirty="0" sz="2000">
                <a:latin typeface="Times New Roman"/>
                <a:cs typeface="Times New Roman"/>
              </a:rPr>
              <a:t>Description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problem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statement.</a:t>
            </a:r>
            <a:endParaRPr sz="2000">
              <a:latin typeface="Times New Roman"/>
              <a:cs typeface="Times New Roman"/>
            </a:endParaRPr>
          </a:p>
          <a:p>
            <a:pPr lvl="1" marL="1170305" indent="-444500">
              <a:lnSpc>
                <a:spcPct val="100000"/>
              </a:lnSpc>
              <a:spcBef>
                <a:spcPts val="160"/>
              </a:spcBef>
              <a:buAutoNum type="arabicPeriod"/>
              <a:tabLst>
                <a:tab pos="1170305" algn="l"/>
              </a:tabLst>
            </a:pPr>
            <a:r>
              <a:rPr dirty="0" sz="2000">
                <a:latin typeface="Times New Roman"/>
                <a:cs typeface="Times New Roman"/>
              </a:rPr>
              <a:t>Scope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objectives.</a:t>
            </a:r>
            <a:endParaRPr sz="2000">
              <a:latin typeface="Times New Roman"/>
              <a:cs typeface="Times New Roman"/>
            </a:endParaRPr>
          </a:p>
          <a:p>
            <a:pPr lvl="1" marL="1170305" indent="-444500">
              <a:lnSpc>
                <a:spcPct val="100000"/>
              </a:lnSpc>
              <a:spcBef>
                <a:spcPts val="165"/>
              </a:spcBef>
              <a:buAutoNum type="arabicPeriod"/>
              <a:tabLst>
                <a:tab pos="1170305" algn="l"/>
              </a:tabLst>
            </a:pPr>
            <a:r>
              <a:rPr dirty="0" sz="2000">
                <a:latin typeface="Times New Roman"/>
                <a:cs typeface="Times New Roman"/>
              </a:rPr>
              <a:t>Stake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holder</a:t>
            </a:r>
            <a:endParaRPr sz="2000">
              <a:latin typeface="Times New Roman"/>
              <a:cs typeface="Times New Roman"/>
            </a:endParaRPr>
          </a:p>
          <a:p>
            <a:pPr lvl="1" marL="1170305" indent="-444500">
              <a:lnSpc>
                <a:spcPct val="100000"/>
              </a:lnSpc>
              <a:spcBef>
                <a:spcPts val="155"/>
              </a:spcBef>
              <a:buAutoNum type="arabicPeriod"/>
              <a:tabLst>
                <a:tab pos="1170305" algn="l"/>
              </a:tabLst>
            </a:pPr>
            <a:r>
              <a:rPr dirty="0" sz="2000">
                <a:latin typeface="Times New Roman"/>
                <a:cs typeface="Times New Roman"/>
              </a:rPr>
              <a:t>seminar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exsicussion</a:t>
            </a:r>
            <a:r>
              <a:rPr dirty="0" sz="2000" spc="44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plan</a:t>
            </a:r>
            <a:endParaRPr sz="2000">
              <a:latin typeface="Times New Roman"/>
              <a:cs typeface="Times New Roman"/>
            </a:endParaRPr>
          </a:p>
          <a:p>
            <a:pPr lvl="1" marL="1106170" indent="-380365">
              <a:lnSpc>
                <a:spcPct val="100000"/>
              </a:lnSpc>
              <a:spcBef>
                <a:spcPts val="160"/>
              </a:spcBef>
              <a:buAutoNum type="arabicPeriod"/>
              <a:tabLst>
                <a:tab pos="1106170" algn="l"/>
              </a:tabLst>
            </a:pPr>
            <a:r>
              <a:rPr dirty="0" sz="2000">
                <a:latin typeface="Times New Roman"/>
                <a:cs typeface="Times New Roman"/>
              </a:rPr>
              <a:t>Platform/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Equipment/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Resources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identification.</a:t>
            </a:r>
            <a:endParaRPr sz="2000">
              <a:latin typeface="Times New Roman"/>
              <a:cs typeface="Times New Roman"/>
            </a:endParaRPr>
          </a:p>
          <a:p>
            <a:pPr marL="497205" indent="-484505">
              <a:lnSpc>
                <a:spcPct val="100000"/>
              </a:lnSpc>
              <a:spcBef>
                <a:spcPts val="265"/>
              </a:spcBef>
              <a:buAutoNum type="arabicPeriod"/>
              <a:tabLst>
                <a:tab pos="497205" algn="l"/>
              </a:tabLst>
            </a:pPr>
            <a:r>
              <a:rPr dirty="0" sz="2000" spc="-10">
                <a:latin typeface="Times New Roman"/>
                <a:cs typeface="Times New Roman"/>
              </a:rPr>
              <a:t>Bibliography</a:t>
            </a:r>
            <a:endParaRPr sz="2000">
              <a:latin typeface="Times New Roman"/>
              <a:cs typeface="Times New Roman"/>
            </a:endParaRPr>
          </a:p>
          <a:p>
            <a:pPr marL="497205" indent="-484505">
              <a:lnSpc>
                <a:spcPct val="100000"/>
              </a:lnSpc>
              <a:spcBef>
                <a:spcPts val="265"/>
              </a:spcBef>
              <a:buAutoNum type="arabicPeriod"/>
              <a:tabLst>
                <a:tab pos="497205" algn="l"/>
              </a:tabLst>
            </a:pPr>
            <a:r>
              <a:rPr dirty="0" sz="2000" spc="-10">
                <a:latin typeface="Times New Roman"/>
                <a:cs typeface="Times New Roman"/>
              </a:rPr>
              <a:t>References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dirty="0" sz="4400" spc="-10"/>
              <a:t>Abstract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93851" y="1357630"/>
            <a:ext cx="7870825" cy="41421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Immersive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technology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becoming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useful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education,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industrial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training,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technical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skill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development.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900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Traditional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training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needs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physical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machines,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trained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instructors,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29718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workshop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facilities,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students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limited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practical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exposure.</a:t>
            </a:r>
            <a:endParaRPr sz="2000">
              <a:latin typeface="Times New Roman"/>
              <a:cs typeface="Times New Roman"/>
            </a:endParaRPr>
          </a:p>
          <a:p>
            <a:pPr marL="297180" marR="95250" indent="-285115">
              <a:lnSpc>
                <a:spcPct val="100000"/>
              </a:lnSpc>
              <a:spcBef>
                <a:spcPts val="900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Industrial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Immersive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Training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Platform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web-based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application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to </a:t>
            </a:r>
            <a:r>
              <a:rPr dirty="0" sz="2000">
                <a:latin typeface="Times New Roman"/>
                <a:cs typeface="Times New Roman"/>
              </a:rPr>
              <a:t>learn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industrial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through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interactive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digital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content.</a:t>
            </a:r>
            <a:endParaRPr sz="2000">
              <a:latin typeface="Times New Roman"/>
              <a:cs typeface="Times New Roman"/>
            </a:endParaRPr>
          </a:p>
          <a:p>
            <a:pPr marL="297180" marR="149225" indent="-285115">
              <a:lnSpc>
                <a:spcPct val="100000"/>
              </a:lnSpc>
              <a:spcBef>
                <a:spcPts val="900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Features: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search,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information,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interactive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3D </a:t>
            </a:r>
            <a:r>
              <a:rPr dirty="0" sz="2000">
                <a:latin typeface="Times New Roman"/>
                <a:cs typeface="Times New Roman"/>
              </a:rPr>
              <a:t>visualization,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safety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instructions,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simulated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troubleshooting,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quizzes,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progress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tracking.</a:t>
            </a:r>
            <a:endParaRPr sz="2000">
              <a:latin typeface="Times New Roman"/>
              <a:cs typeface="Times New Roman"/>
            </a:endParaRPr>
          </a:p>
          <a:p>
            <a:pPr marL="297180" marR="427990" indent="-285115">
              <a:lnSpc>
                <a:spcPct val="100000"/>
              </a:lnSpc>
              <a:spcBef>
                <a:spcPts val="905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Runs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 web browser,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VR headset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required.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Intended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for </a:t>
            </a:r>
            <a:r>
              <a:rPr dirty="0" sz="2000">
                <a:latin typeface="Times New Roman"/>
                <a:cs typeface="Times New Roman"/>
              </a:rPr>
              <a:t>education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only;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does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replace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workshop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training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 official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safety procedures.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marL="2451735">
              <a:lnSpc>
                <a:spcPct val="100000"/>
              </a:lnSpc>
              <a:spcBef>
                <a:spcPts val="625"/>
              </a:spcBef>
            </a:pPr>
            <a:r>
              <a:rPr dirty="0" sz="4400"/>
              <a:t>1. </a:t>
            </a:r>
            <a:r>
              <a:rPr dirty="0" sz="4400" spc="-10"/>
              <a:t>Introduction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6612" rIns="0" bIns="0" rtlCol="0" vert="horz">
            <a:spAutoFit/>
          </a:bodyPr>
          <a:lstStyle/>
          <a:p>
            <a:pPr marL="354965" marR="5080" indent="-28511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Industrial</a:t>
            </a:r>
            <a:r>
              <a:rPr dirty="0" sz="2000" spc="-6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training</a:t>
            </a:r>
            <a:r>
              <a:rPr dirty="0" sz="2000" spc="-5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helps</a:t>
            </a:r>
            <a:r>
              <a:rPr dirty="0" sz="2000" spc="-3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students</a:t>
            </a:r>
            <a:r>
              <a:rPr dirty="0" sz="2000" spc="-4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understand</a:t>
            </a:r>
            <a:r>
              <a:rPr dirty="0" sz="2000" spc="-4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machines,</a:t>
            </a:r>
            <a:r>
              <a:rPr dirty="0" sz="2000" spc="-2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their</a:t>
            </a:r>
            <a:r>
              <a:rPr dirty="0" sz="2000" spc="-3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components,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working</a:t>
            </a:r>
            <a:r>
              <a:rPr dirty="0" sz="2000" spc="-5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principles,</a:t>
            </a:r>
            <a:r>
              <a:rPr dirty="0" sz="2000" spc="-5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safety</a:t>
            </a:r>
            <a:r>
              <a:rPr dirty="0" sz="2000" spc="-3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procedures.</a:t>
            </a:r>
            <a:endParaRPr sz="2000">
              <a:latin typeface="Times New Roman"/>
              <a:cs typeface="Times New Roman"/>
            </a:endParaRPr>
          </a:p>
          <a:p>
            <a:pPr marL="354965" indent="-284480">
              <a:lnSpc>
                <a:spcPct val="100000"/>
              </a:lnSpc>
              <a:spcBef>
                <a:spcPts val="9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Access</a:t>
            </a:r>
            <a:r>
              <a:rPr dirty="0" sz="2000" spc="-3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dirty="0" sz="2000" spc="-3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real</a:t>
            </a:r>
            <a:r>
              <a:rPr dirty="0" sz="2000" spc="-3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machines</a:t>
            </a:r>
            <a:r>
              <a:rPr dirty="0" sz="2000" spc="-2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is</a:t>
            </a:r>
            <a:r>
              <a:rPr dirty="0" sz="2000" spc="-2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limited</a:t>
            </a:r>
            <a:r>
              <a:rPr dirty="0" sz="2000" spc="-2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by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high</a:t>
            </a:r>
            <a:r>
              <a:rPr dirty="0" sz="2000" spc="-4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cost,</a:t>
            </a:r>
            <a:r>
              <a:rPr dirty="0" sz="2000" spc="-4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maintenance</a:t>
            </a:r>
            <a:r>
              <a:rPr dirty="0" sz="2000" spc="-2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needs,</a:t>
            </a:r>
            <a:r>
              <a:rPr dirty="0" sz="2000" spc="-4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25" b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</a:pP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safety</a:t>
            </a:r>
            <a:r>
              <a:rPr dirty="0" sz="2000" spc="-2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risks.</a:t>
            </a:r>
            <a:endParaRPr sz="2000">
              <a:latin typeface="Times New Roman"/>
              <a:cs typeface="Times New Roman"/>
            </a:endParaRPr>
          </a:p>
          <a:p>
            <a:pPr marL="354965" marR="551815" indent="-285115">
              <a:lnSpc>
                <a:spcPct val="100000"/>
              </a:lnSpc>
              <a:spcBef>
                <a:spcPts val="9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VR,</a:t>
            </a:r>
            <a:r>
              <a:rPr dirty="0" sz="2000" spc="-1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AR,</a:t>
            </a:r>
            <a:r>
              <a:rPr dirty="0" sz="2000" spc="-2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dirty="0" sz="2000" spc="-1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interactive</a:t>
            </a:r>
            <a:r>
              <a:rPr dirty="0" sz="2000" spc="-6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3D</a:t>
            </a:r>
            <a:r>
              <a:rPr dirty="0" sz="2000" spc="-2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visualization</a:t>
            </a:r>
            <a:r>
              <a:rPr dirty="0" sz="2000" spc="-5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let</a:t>
            </a:r>
            <a:r>
              <a:rPr dirty="0" sz="2000" spc="-3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learners</a:t>
            </a:r>
            <a:r>
              <a:rPr dirty="0" sz="2000" spc="-4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explore</a:t>
            </a:r>
            <a:r>
              <a:rPr dirty="0" sz="2000" spc="-6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digital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machine</a:t>
            </a:r>
            <a:r>
              <a:rPr dirty="0" sz="2000" spc="-3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models.</a:t>
            </a:r>
            <a:endParaRPr sz="2000">
              <a:latin typeface="Times New Roman"/>
              <a:cs typeface="Times New Roman"/>
            </a:endParaRPr>
          </a:p>
          <a:p>
            <a:pPr marL="354965" marR="31750" indent="-285115">
              <a:lnSpc>
                <a:spcPct val="100000"/>
              </a:lnSpc>
              <a:spcBef>
                <a:spcPts val="9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Proposed</a:t>
            </a:r>
            <a:r>
              <a:rPr dirty="0" sz="2000" spc="-6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project:</a:t>
            </a:r>
            <a:r>
              <a:rPr dirty="0" sz="2000" spc="-6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web-based</a:t>
            </a:r>
            <a:r>
              <a:rPr dirty="0" sz="2000" spc="-5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application</a:t>
            </a:r>
            <a:r>
              <a:rPr dirty="0" sz="2000" spc="-5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dirty="0" sz="2000" spc="-1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machine</a:t>
            </a:r>
            <a:r>
              <a:rPr dirty="0" sz="2000" spc="-2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information,</a:t>
            </a:r>
            <a:r>
              <a:rPr dirty="0" sz="2000" spc="-5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25" b="0">
                <a:solidFill>
                  <a:srgbClr val="000000"/>
                </a:solidFill>
                <a:latin typeface="Times New Roman"/>
                <a:cs typeface="Times New Roman"/>
              </a:rPr>
              <a:t>3D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models,</a:t>
            </a:r>
            <a:r>
              <a:rPr dirty="0" sz="2000" spc="-3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component</a:t>
            </a:r>
            <a:r>
              <a:rPr dirty="0" sz="2000" spc="-7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identification,</a:t>
            </a:r>
            <a:r>
              <a:rPr dirty="0" sz="2000" spc="-6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simulated</a:t>
            </a:r>
            <a:r>
              <a:rPr dirty="0" sz="2000" spc="-5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troubleshooting,</a:t>
            </a:r>
            <a:r>
              <a:rPr dirty="0" sz="2000" spc="-6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safety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quizzes,</a:t>
            </a:r>
            <a:r>
              <a:rPr dirty="0" sz="2000" spc="-4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and progress</a:t>
            </a:r>
            <a:r>
              <a:rPr dirty="0" sz="2000" spc="-4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tracking.</a:t>
            </a:r>
            <a:endParaRPr sz="2000">
              <a:latin typeface="Times New Roman"/>
              <a:cs typeface="Times New Roman"/>
            </a:endParaRPr>
          </a:p>
          <a:p>
            <a:pPr marL="354965" marR="46990" indent="-285115">
              <a:lnSpc>
                <a:spcPct val="100000"/>
              </a:lnSpc>
              <a:spcBef>
                <a:spcPts val="90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Objective:</a:t>
            </a:r>
            <a:r>
              <a:rPr dirty="0" sz="2000" spc="-6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make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machine</a:t>
            </a:r>
            <a:r>
              <a:rPr dirty="0" sz="2000" spc="-1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  <a:r>
              <a:rPr dirty="0" sz="2000" spc="-5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more</a:t>
            </a:r>
            <a:r>
              <a:rPr dirty="0" sz="2000" spc="-2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accessible</a:t>
            </a:r>
            <a:r>
              <a:rPr dirty="0" sz="2000" spc="-4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dirty="0" sz="2000" spc="-2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interactive,</a:t>
            </a:r>
            <a:r>
              <a:rPr dirty="0" sz="2000" spc="-4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while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supporting</a:t>
            </a:r>
            <a:r>
              <a:rPr dirty="0" sz="2000" spc="-5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(not</a:t>
            </a:r>
            <a:r>
              <a:rPr dirty="0" sz="2000" spc="-3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replacing)</a:t>
            </a:r>
            <a:r>
              <a:rPr dirty="0" sz="2000" spc="-5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workshop</a:t>
            </a:r>
            <a:r>
              <a:rPr dirty="0" sz="2000" spc="-5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training.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marL="1870710">
              <a:lnSpc>
                <a:spcPct val="100000"/>
              </a:lnSpc>
              <a:spcBef>
                <a:spcPts val="625"/>
              </a:spcBef>
            </a:pPr>
            <a:r>
              <a:rPr dirty="0" sz="4400"/>
              <a:t>2.</a:t>
            </a:r>
            <a:r>
              <a:rPr dirty="0" sz="4400" spc="-20"/>
              <a:t> </a:t>
            </a:r>
            <a:r>
              <a:rPr dirty="0" sz="4400"/>
              <a:t>Literature</a:t>
            </a:r>
            <a:r>
              <a:rPr dirty="0" sz="4400" spc="-35"/>
              <a:t> </a:t>
            </a:r>
            <a:r>
              <a:rPr dirty="0" sz="4400" spc="-10"/>
              <a:t>Survey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7315200" y="4529963"/>
            <a:ext cx="1645285" cy="2192020"/>
            <a:chOff x="7315200" y="4529963"/>
            <a:chExt cx="1645285" cy="2192020"/>
          </a:xfrm>
        </p:grpSpPr>
        <p:sp>
          <p:nvSpPr>
            <p:cNvPr id="4" name="object 4"/>
            <p:cNvSpPr/>
            <p:nvPr/>
          </p:nvSpPr>
          <p:spPr>
            <a:xfrm>
              <a:off x="8411463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315200" y="4529963"/>
              <a:ext cx="1371600" cy="2023745"/>
            </a:xfrm>
            <a:custGeom>
              <a:avLst/>
              <a:gdLst/>
              <a:ahLst/>
              <a:cxnLst/>
              <a:rect l="l" t="t" r="r" b="b"/>
              <a:pathLst>
                <a:path w="1371600" h="2023745">
                  <a:moveTo>
                    <a:pt x="1371600" y="0"/>
                  </a:moveTo>
                  <a:lnTo>
                    <a:pt x="0" y="0"/>
                  </a:lnTo>
                  <a:lnTo>
                    <a:pt x="0" y="2023237"/>
                  </a:lnTo>
                  <a:lnTo>
                    <a:pt x="1371600" y="2023237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D0E2EA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44500" y="1206500"/>
          <a:ext cx="8604885" cy="5500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965"/>
                <a:gridCol w="2133600"/>
                <a:gridCol w="1492885"/>
                <a:gridCol w="1249045"/>
                <a:gridCol w="1370965"/>
                <a:gridCol w="1095375"/>
                <a:gridCol w="274320"/>
                <a:gridCol w="272415"/>
              </a:tblGrid>
              <a:tr h="6432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25" b="1">
                          <a:latin typeface="Times New Roman"/>
                          <a:cs typeface="Times New Roman"/>
                        </a:rPr>
                        <a:t>Sr.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800" spc="-25" b="1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400" spc="-25" b="1">
                          <a:latin typeface="Arial"/>
                          <a:cs typeface="Arial"/>
                        </a:rPr>
                        <a:t>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28575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marL="380365">
                        <a:lnSpc>
                          <a:spcPts val="2100"/>
                        </a:lnSpc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Aapproach</a:t>
                      </a:r>
                      <a:r>
                        <a:rPr dirty="0" sz="1800" spc="-7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 b="1">
                          <a:latin typeface="Times New Roman"/>
                          <a:cs typeface="Times New Roman"/>
                        </a:rPr>
                        <a:t>Type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marL="504825" marR="174625" indent="-3251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Technology </a:t>
                      </a:r>
                      <a:r>
                        <a:rPr dirty="0" sz="1800" spc="-20" b="1">
                          <a:latin typeface="Times New Roman"/>
                          <a:cs typeface="Times New Roman"/>
                        </a:rPr>
                        <a:t>Used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Dataset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marL="214629" marR="208279" indent="2724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25" b="1">
                          <a:latin typeface="Times New Roman"/>
                          <a:cs typeface="Times New Roman"/>
                        </a:rPr>
                        <a:t>Key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Objective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Limitations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11950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28575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863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VR</a:t>
                      </a:r>
                      <a:r>
                        <a:rPr dirty="0" sz="1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KUKA</a:t>
                      </a:r>
                      <a:r>
                        <a:rPr dirty="0" sz="18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Robot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Operators</a:t>
                      </a:r>
                      <a:r>
                        <a:rPr dirty="0" sz="18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(Pratticò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Lamberti,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2021)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VR,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Robotics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286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Study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374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Train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robot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operators virtually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 marR="3168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Limited real-world testing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14712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2.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28575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6610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AR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Tools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for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Aeronautic Maintenance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(Loizeau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al.,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2021)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AR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568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Field Evaluation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89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Support Maintenance Workers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 marR="4298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Industry-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specific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1826260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3.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28575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1440" marR="25590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Situated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Visualization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Maintenance Training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(BagheriFard</a:t>
                      </a:r>
                      <a:r>
                        <a:rPr dirty="0" sz="18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al.,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2025)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ts val="2155"/>
                        </a:lnSpc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AR,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ts val="2155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Visualization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Study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 marR="114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Improve maintenance learning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gridSpan="2" rowSpan="2">
                  <a:txBody>
                    <a:bodyPr/>
                    <a:lstStyle/>
                    <a:p>
                      <a:pPr marL="92075" marR="3162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Limited evaluation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1968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735">
                    <a:lnL w="28575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760"/>
                        </a:lnSpc>
                        <a:spcBef>
                          <a:spcPts val="690"/>
                        </a:spcBef>
                      </a:pPr>
                      <a:r>
                        <a:rPr dirty="0" sz="1200" spc="-50">
                          <a:solidFill>
                            <a:srgbClr val="878787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763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</a:tcPr>
                </a:tc>
              </a:tr>
              <a:tr h="167640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marL="1870710">
              <a:lnSpc>
                <a:spcPct val="100000"/>
              </a:lnSpc>
              <a:spcBef>
                <a:spcPts val="625"/>
              </a:spcBef>
            </a:pPr>
            <a:r>
              <a:rPr dirty="0" sz="4400"/>
              <a:t>2.</a:t>
            </a:r>
            <a:r>
              <a:rPr dirty="0" sz="4400" spc="-20"/>
              <a:t> </a:t>
            </a:r>
            <a:r>
              <a:rPr dirty="0" sz="4400"/>
              <a:t>Literature</a:t>
            </a:r>
            <a:r>
              <a:rPr dirty="0" sz="4400" spc="-35"/>
              <a:t> </a:t>
            </a:r>
            <a:r>
              <a:rPr dirty="0" sz="4400" spc="-10"/>
              <a:t>Survey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7315200" y="5027104"/>
            <a:ext cx="1645285" cy="1694814"/>
            <a:chOff x="7315200" y="5027104"/>
            <a:chExt cx="1645285" cy="1694814"/>
          </a:xfrm>
        </p:grpSpPr>
        <p:sp>
          <p:nvSpPr>
            <p:cNvPr id="4" name="object 4"/>
            <p:cNvSpPr/>
            <p:nvPr/>
          </p:nvSpPr>
          <p:spPr>
            <a:xfrm>
              <a:off x="8411463" y="6356349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315200" y="5027104"/>
              <a:ext cx="1371600" cy="1556385"/>
            </a:xfrm>
            <a:custGeom>
              <a:avLst/>
              <a:gdLst/>
              <a:ahLst/>
              <a:cxnLst/>
              <a:rect l="l" t="t" r="r" b="b"/>
              <a:pathLst>
                <a:path w="1371600" h="1556384">
                  <a:moveTo>
                    <a:pt x="1371600" y="0"/>
                  </a:moveTo>
                  <a:lnTo>
                    <a:pt x="0" y="0"/>
                  </a:lnTo>
                  <a:lnTo>
                    <a:pt x="0" y="1556258"/>
                  </a:lnTo>
                  <a:lnTo>
                    <a:pt x="1371600" y="1556258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D0E2EA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44500" y="1206500"/>
          <a:ext cx="8604885" cy="5501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120"/>
                <a:gridCol w="2051050"/>
                <a:gridCol w="1484630"/>
                <a:gridCol w="1365250"/>
                <a:gridCol w="1377315"/>
                <a:gridCol w="1096009"/>
                <a:gridCol w="274954"/>
                <a:gridCol w="273050"/>
              </a:tblGrid>
              <a:tr h="926465"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25" b="1">
                          <a:latin typeface="Times New Roman"/>
                          <a:cs typeface="Times New Roman"/>
                        </a:rPr>
                        <a:t>Sr.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20650">
                        <a:lnSpc>
                          <a:spcPct val="100000"/>
                        </a:lnSpc>
                      </a:pPr>
                      <a:r>
                        <a:rPr dirty="0" sz="1800" spc="-25" b="1">
                          <a:latin typeface="Times New Roman"/>
                          <a:cs typeface="Times New Roman"/>
                        </a:rPr>
                        <a:t>No.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28575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Aapproach</a:t>
                      </a:r>
                      <a:r>
                        <a:rPr dirty="0" sz="1800" spc="-7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 b="1">
                          <a:latin typeface="Times New Roman"/>
                          <a:cs typeface="Times New Roman"/>
                        </a:rPr>
                        <a:t>Type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marL="501650" marR="170815" indent="-3263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Technology </a:t>
                      </a:r>
                      <a:r>
                        <a:rPr dirty="0" sz="1800" spc="-20" b="1">
                          <a:latin typeface="Times New Roman"/>
                          <a:cs typeface="Times New Roman"/>
                        </a:rPr>
                        <a:t>Used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marL="31496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Dataset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marL="217804" marR="211454" indent="2724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25" b="1">
                          <a:latin typeface="Times New Roman"/>
                          <a:cs typeface="Times New Roman"/>
                        </a:rPr>
                        <a:t>Key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Objective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Limitations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15474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4.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28575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956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Immersive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Technologies</a:t>
                      </a:r>
                      <a:r>
                        <a:rPr dirty="0" sz="1800" spc="-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Safety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Training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(Babalola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al.,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2023)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VR,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AR,</a:t>
                      </a:r>
                      <a:r>
                        <a:rPr dirty="0" sz="1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XR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67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Articles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92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02920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Review safety training methods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78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Varied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study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quality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5.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28575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91440" marR="3263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XR</a:t>
                      </a:r>
                      <a:r>
                        <a:rPr dirty="0" sz="1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Workers’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Safety</a:t>
                      </a:r>
                      <a:r>
                        <a:rPr dirty="0" sz="18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(Dodoo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et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al.,</a:t>
                      </a:r>
                      <a:r>
                        <a:rPr dirty="0" sz="1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2025)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XR,</a:t>
                      </a:r>
                      <a:r>
                        <a:rPr dirty="0" sz="1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VR,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AR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6131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Literature Review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346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Study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XR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high-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risk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industries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 marR="3035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Adoption challenges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1329055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6.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69">
                    <a:lnL w="28575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just" marL="91440" marR="61595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VR-ManuSafe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(Fengjin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al.,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2026)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VR,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Unity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 marR="5359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Injury Types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 marR="17272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Teach manufacturi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ng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safety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gridSpan="2" rowSpan="2">
                  <a:txBody>
                    <a:bodyPr/>
                    <a:lstStyle/>
                    <a:p>
                      <a:pPr marL="92075" marR="54673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Limited scope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2082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9369">
                    <a:lnL w="28575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  <a:spcBef>
                          <a:spcPts val="690"/>
                        </a:spcBef>
                      </a:pPr>
                      <a:r>
                        <a:rPr dirty="0" sz="1200" spc="-50">
                          <a:solidFill>
                            <a:srgbClr val="878787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763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</a:tcPr>
                </a:tc>
              </a:tr>
              <a:tr h="156210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marL="1870710">
              <a:lnSpc>
                <a:spcPct val="100000"/>
              </a:lnSpc>
              <a:spcBef>
                <a:spcPts val="625"/>
              </a:spcBef>
            </a:pPr>
            <a:r>
              <a:rPr dirty="0" sz="4400"/>
              <a:t>2.</a:t>
            </a:r>
            <a:r>
              <a:rPr dirty="0" sz="4400" spc="-20"/>
              <a:t> </a:t>
            </a:r>
            <a:r>
              <a:rPr dirty="0" sz="4400"/>
              <a:t>Literature</a:t>
            </a:r>
            <a:r>
              <a:rPr dirty="0" sz="4400" spc="-35"/>
              <a:t> </a:t>
            </a:r>
            <a:r>
              <a:rPr dirty="0" sz="4400" spc="-10"/>
              <a:t>Survey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7315200" y="5063997"/>
            <a:ext cx="1645285" cy="1657985"/>
            <a:chOff x="7315200" y="5063997"/>
            <a:chExt cx="1645285" cy="1657985"/>
          </a:xfrm>
        </p:grpSpPr>
        <p:sp>
          <p:nvSpPr>
            <p:cNvPr id="4" name="object 4"/>
            <p:cNvSpPr/>
            <p:nvPr/>
          </p:nvSpPr>
          <p:spPr>
            <a:xfrm>
              <a:off x="8411463" y="6356349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315200" y="5063997"/>
              <a:ext cx="1371600" cy="1489710"/>
            </a:xfrm>
            <a:custGeom>
              <a:avLst/>
              <a:gdLst/>
              <a:ahLst/>
              <a:cxnLst/>
              <a:rect l="l" t="t" r="r" b="b"/>
              <a:pathLst>
                <a:path w="1371600" h="1489709">
                  <a:moveTo>
                    <a:pt x="1371600" y="0"/>
                  </a:moveTo>
                  <a:lnTo>
                    <a:pt x="0" y="0"/>
                  </a:lnTo>
                  <a:lnTo>
                    <a:pt x="0" y="1489202"/>
                  </a:lnTo>
                  <a:lnTo>
                    <a:pt x="1371600" y="1489202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D0E2EA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44500" y="1206500"/>
          <a:ext cx="8604885" cy="5500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4520"/>
                <a:gridCol w="1946275"/>
                <a:gridCol w="1562734"/>
                <a:gridCol w="1370964"/>
                <a:gridCol w="1370964"/>
                <a:gridCol w="1095375"/>
                <a:gridCol w="274320"/>
                <a:gridCol w="272415"/>
              </a:tblGrid>
              <a:tr h="9302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25" b="1">
                          <a:latin typeface="Times New Roman"/>
                          <a:cs typeface="Times New Roman"/>
                        </a:rPr>
                        <a:t>Sr.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800" spc="-25" b="1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800" spc="-25" b="1">
                          <a:latin typeface="Arial"/>
                          <a:cs typeface="Arial"/>
                        </a:rPr>
                        <a:t>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28575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Aapproach</a:t>
                      </a:r>
                      <a:r>
                        <a:rPr dirty="0" sz="1800" spc="-7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 b="1">
                          <a:latin typeface="Times New Roman"/>
                          <a:cs typeface="Times New Roman"/>
                        </a:rPr>
                        <a:t>Type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marL="540385" marR="209550" indent="-3251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Technology </a:t>
                      </a:r>
                      <a:r>
                        <a:rPr dirty="0" sz="1800" spc="-20" b="1">
                          <a:latin typeface="Times New Roman"/>
                          <a:cs typeface="Times New Roman"/>
                        </a:rPr>
                        <a:t>Used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Dataset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marL="214629" marR="208279" indent="2724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25" b="1">
                          <a:latin typeface="Times New Roman"/>
                          <a:cs typeface="Times New Roman"/>
                        </a:rPr>
                        <a:t>Key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Objective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Limitations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14890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7.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28575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0226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Emerging Immersive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Technology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– 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Survey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(Pavithra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al.,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2020)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VR,</a:t>
                      </a:r>
                      <a:r>
                        <a:rPr dirty="0" sz="1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AR,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MR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676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Literature Survey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303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Explore immersive technologies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 marR="4191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General overview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14243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8.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28575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885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Immersive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Technology: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Uses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Challenges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(Handa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al.)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VR,</a:t>
                      </a:r>
                      <a:r>
                        <a:rPr dirty="0" sz="1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AR,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MR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marR="367665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Literature Review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8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marR="10985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Discuss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uses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challenges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 marL="92075" marR="4813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Limited practical analysis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1292225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9.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28575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1440" marR="1060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8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Immersive Technology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(Suh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Prophet,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2018)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VR,</a:t>
                      </a:r>
                      <a:r>
                        <a:rPr dirty="0" sz="1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AR,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MR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Research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Literature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just" marL="92075" marR="5060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Analyze research trends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gridSpan="2" rowSpan="2">
                  <a:txBody>
                    <a:bodyPr/>
                    <a:lstStyle/>
                    <a:p>
                      <a:pPr marL="92075" marR="1860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Depends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available studies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19685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735">
                    <a:lnL w="28575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760"/>
                        </a:lnSpc>
                        <a:spcBef>
                          <a:spcPts val="690"/>
                        </a:spcBef>
                      </a:pPr>
                      <a:r>
                        <a:rPr dirty="0" sz="1200" spc="-50">
                          <a:solidFill>
                            <a:srgbClr val="878787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763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</a:tcPr>
                </a:tc>
              </a:tr>
              <a:tr h="167640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marL="1870710">
              <a:lnSpc>
                <a:spcPct val="100000"/>
              </a:lnSpc>
              <a:spcBef>
                <a:spcPts val="625"/>
              </a:spcBef>
            </a:pPr>
            <a:r>
              <a:rPr dirty="0" sz="4400"/>
              <a:t>2.</a:t>
            </a:r>
            <a:r>
              <a:rPr dirty="0" sz="4400" spc="-20"/>
              <a:t> </a:t>
            </a:r>
            <a:r>
              <a:rPr dirty="0" sz="4400"/>
              <a:t>Literature</a:t>
            </a:r>
            <a:r>
              <a:rPr dirty="0" sz="4400" spc="-35"/>
              <a:t> </a:t>
            </a:r>
            <a:r>
              <a:rPr dirty="0" sz="4400" spc="-10"/>
              <a:t>Survey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7315200" y="5151310"/>
            <a:ext cx="1645285" cy="1570355"/>
            <a:chOff x="7315200" y="5151310"/>
            <a:chExt cx="1645285" cy="1570355"/>
          </a:xfrm>
        </p:grpSpPr>
        <p:sp>
          <p:nvSpPr>
            <p:cNvPr id="4" name="object 4"/>
            <p:cNvSpPr/>
            <p:nvPr/>
          </p:nvSpPr>
          <p:spPr>
            <a:xfrm>
              <a:off x="8411463" y="6356349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315200" y="5151310"/>
              <a:ext cx="1371600" cy="1432560"/>
            </a:xfrm>
            <a:custGeom>
              <a:avLst/>
              <a:gdLst/>
              <a:ahLst/>
              <a:cxnLst/>
              <a:rect l="l" t="t" r="r" b="b"/>
              <a:pathLst>
                <a:path w="1371600" h="1432559">
                  <a:moveTo>
                    <a:pt x="1371600" y="0"/>
                  </a:moveTo>
                  <a:lnTo>
                    <a:pt x="0" y="0"/>
                  </a:lnTo>
                  <a:lnTo>
                    <a:pt x="0" y="1432052"/>
                  </a:lnTo>
                  <a:lnTo>
                    <a:pt x="1371600" y="1432052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D0E2EA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44500" y="1206500"/>
          <a:ext cx="8604885" cy="5500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4520"/>
                <a:gridCol w="1965960"/>
                <a:gridCol w="1543049"/>
                <a:gridCol w="1370964"/>
                <a:gridCol w="1370964"/>
                <a:gridCol w="1095375"/>
                <a:gridCol w="274320"/>
                <a:gridCol w="272415"/>
              </a:tblGrid>
              <a:tr h="92836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25" b="1">
                          <a:latin typeface="Times New Roman"/>
                          <a:cs typeface="Times New Roman"/>
                        </a:rPr>
                        <a:t>Sr.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800" spc="-25" b="1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800" spc="-25" b="1">
                          <a:latin typeface="Arial"/>
                          <a:cs typeface="Arial"/>
                        </a:rPr>
                        <a:t>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28575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Aapproach</a:t>
                      </a:r>
                      <a:r>
                        <a:rPr dirty="0" sz="1800" spc="-7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 b="1">
                          <a:latin typeface="Times New Roman"/>
                          <a:cs typeface="Times New Roman"/>
                        </a:rPr>
                        <a:t>Type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marL="530860" marR="198755" indent="-3251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Technology </a:t>
                      </a:r>
                      <a:r>
                        <a:rPr dirty="0" sz="1800" spc="-20" b="1">
                          <a:latin typeface="Times New Roman"/>
                          <a:cs typeface="Times New Roman"/>
                        </a:rPr>
                        <a:t>Used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Dataset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marL="214629" marR="208279" indent="2724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25" b="1">
                          <a:latin typeface="Times New Roman"/>
                          <a:cs typeface="Times New Roman"/>
                        </a:rPr>
                        <a:t>Key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Objective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Limitations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AACC5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14319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10.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28575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079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Web-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Digital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Twin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E-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8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(Weis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et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al.,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2025)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698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3D,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Digital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Twin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7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marR="141605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Professional 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035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Support interactive learning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 marR="2616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Small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pilot study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15709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11.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28575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0541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Immersive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dirty="0" sz="18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Operators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(Pletz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Zinn,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2020)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27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 marR="453390">
                        <a:lnSpc>
                          <a:spcPct val="100000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VR,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Video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Analysis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13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Participants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92075" marR="4692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Evaluate operator training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 marR="211454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Small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sample</a:t>
                      </a:r>
                      <a:r>
                        <a:rPr dirty="0" sz="18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size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1204595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12.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28575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1440" marR="1314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Industrial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Machine Identification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8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AR</a:t>
                      </a:r>
                      <a:r>
                        <a:rPr dirty="0" sz="18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(Kavya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al.,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2021)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1440" marR="6750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Unity, Vuforia, ARCore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Prototype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marR="401955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Identify machines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AR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Platform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limitations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2082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735">
                    <a:lnL w="28575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72085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  <a:spcBef>
                          <a:spcPts val="690"/>
                        </a:spcBef>
                      </a:pPr>
                      <a:r>
                        <a:rPr dirty="0" sz="1200" spc="-50">
                          <a:solidFill>
                            <a:srgbClr val="878787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763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</a:tcPr>
                </a:tc>
              </a:tr>
              <a:tr h="156210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marL="628650">
              <a:lnSpc>
                <a:spcPct val="100000"/>
              </a:lnSpc>
              <a:spcBef>
                <a:spcPts val="625"/>
              </a:spcBef>
            </a:pPr>
            <a:r>
              <a:rPr dirty="0" sz="4400"/>
              <a:t>3.</a:t>
            </a:r>
            <a:r>
              <a:rPr dirty="0" sz="4400" spc="-10"/>
              <a:t> </a:t>
            </a:r>
            <a:r>
              <a:rPr dirty="0" sz="4400"/>
              <a:t>Information</a:t>
            </a:r>
            <a:r>
              <a:rPr dirty="0" sz="4400" spc="-40"/>
              <a:t> </a:t>
            </a:r>
            <a:r>
              <a:rPr dirty="0" sz="4400"/>
              <a:t>to</a:t>
            </a:r>
            <a:r>
              <a:rPr dirty="0" sz="4400" spc="-10"/>
              <a:t> </a:t>
            </a:r>
            <a:r>
              <a:rPr dirty="0" sz="4400"/>
              <a:t>seminar</a:t>
            </a:r>
            <a:r>
              <a:rPr dirty="0" sz="4400" spc="-5"/>
              <a:t> </a:t>
            </a:r>
            <a:r>
              <a:rPr dirty="0" sz="4400" spc="-10"/>
              <a:t>topic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93851" y="1357630"/>
            <a:ext cx="7888605" cy="3112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7180" marR="43815" indent="-28511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Industrial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machines: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manufacturing,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processing,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assembly,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packaging;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platform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gives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each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machine's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name,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components,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working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principle.</a:t>
            </a:r>
            <a:endParaRPr sz="2000">
              <a:latin typeface="Times New Roman"/>
              <a:cs typeface="Times New Roman"/>
            </a:endParaRPr>
          </a:p>
          <a:p>
            <a:pPr marL="297180" marR="831850" indent="-285115">
              <a:lnSpc>
                <a:spcPct val="100000"/>
              </a:lnSpc>
              <a:spcBef>
                <a:spcPts val="900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Types: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Manufacturing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(drilling,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milling,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lathe),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Material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Handling </a:t>
            </a:r>
            <a:r>
              <a:rPr dirty="0" sz="2000">
                <a:latin typeface="Times New Roman"/>
                <a:cs typeface="Times New Roman"/>
              </a:rPr>
              <a:t>(conveyors,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lifting),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Assembly,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Packaging,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Industrial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Robots.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900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3D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visualization: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rotate,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zoom,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view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different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angles;</a:t>
            </a:r>
            <a:endParaRPr sz="2000">
              <a:latin typeface="Times New Roman"/>
              <a:cs typeface="Times New Roman"/>
            </a:endParaRPr>
          </a:p>
          <a:p>
            <a:pPr marL="29718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selecting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component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shows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name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basic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information.</a:t>
            </a:r>
            <a:endParaRPr sz="2000">
              <a:latin typeface="Times New Roman"/>
              <a:cs typeface="Times New Roman"/>
            </a:endParaRPr>
          </a:p>
          <a:p>
            <a:pPr marL="297180" marR="563880" indent="-285115">
              <a:lnSpc>
                <a:spcPct val="100000"/>
              </a:lnSpc>
              <a:spcBef>
                <a:spcPts val="905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Component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identification: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labelled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3D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models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diagrams,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e.g.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50">
                <a:latin typeface="Times New Roman"/>
                <a:cs typeface="Times New Roman"/>
              </a:rPr>
              <a:t>a </a:t>
            </a:r>
            <a:r>
              <a:rPr dirty="0" sz="2000">
                <a:latin typeface="Times New Roman"/>
                <a:cs typeface="Times New Roman"/>
              </a:rPr>
              <a:t>drilling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drill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bit,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spindle,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worktable,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 </a:t>
            </a:r>
            <a:r>
              <a:rPr dirty="0" sz="2000" spc="-10">
                <a:latin typeface="Times New Roman"/>
                <a:cs typeface="Times New Roman"/>
              </a:rPr>
              <a:t>column.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29208" y="4491748"/>
            <a:ext cx="8244205" cy="2242820"/>
            <a:chOff x="729208" y="4491748"/>
            <a:chExt cx="8244205" cy="2242820"/>
          </a:xfrm>
        </p:grpSpPr>
        <p:sp>
          <p:nvSpPr>
            <p:cNvPr id="6" name="object 6"/>
            <p:cNvSpPr/>
            <p:nvPr/>
          </p:nvSpPr>
          <p:spPr>
            <a:xfrm>
              <a:off x="8411463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11463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208" y="4491748"/>
              <a:ext cx="3842766" cy="195719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86046" y="4491748"/>
              <a:ext cx="3451986" cy="1957197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marL="668020">
              <a:lnSpc>
                <a:spcPct val="100000"/>
              </a:lnSpc>
              <a:spcBef>
                <a:spcPts val="625"/>
              </a:spcBef>
            </a:pPr>
            <a:r>
              <a:rPr dirty="0" sz="4400"/>
              <a:t>4.</a:t>
            </a:r>
            <a:r>
              <a:rPr dirty="0" sz="4400" spc="-20"/>
              <a:t> </a:t>
            </a:r>
            <a:r>
              <a:rPr dirty="0" sz="4400"/>
              <a:t>Advantages</a:t>
            </a:r>
            <a:r>
              <a:rPr dirty="0" sz="4400" spc="-65"/>
              <a:t> </a:t>
            </a:r>
            <a:r>
              <a:rPr dirty="0" sz="4400"/>
              <a:t>/</a:t>
            </a:r>
            <a:r>
              <a:rPr dirty="0" sz="4400" spc="-20"/>
              <a:t> </a:t>
            </a:r>
            <a:r>
              <a:rPr dirty="0" sz="4400" spc="-10"/>
              <a:t>Disadvantages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4038600" cy="5334000"/>
          </a:xfrm>
          <a:custGeom>
            <a:avLst/>
            <a:gdLst/>
            <a:ahLst/>
            <a:cxnLst/>
            <a:rect l="l" t="t" r="r" b="b"/>
            <a:pathLst>
              <a:path w="4038600" h="5334000">
                <a:moveTo>
                  <a:pt x="0" y="5334000"/>
                </a:moveTo>
                <a:lnTo>
                  <a:pt x="4038600" y="5334000"/>
                </a:lnTo>
                <a:lnTo>
                  <a:pt x="4038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93851" y="1611601"/>
            <a:ext cx="3805554" cy="4189729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585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Interactive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learning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495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Easy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access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through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browser,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no</a:t>
            </a:r>
            <a:endParaRPr sz="2000">
              <a:latin typeface="Times New Roman"/>
              <a:cs typeface="Times New Roman"/>
            </a:endParaRPr>
          </a:p>
          <a:p>
            <a:pPr marL="29718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VR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headset</a:t>
            </a:r>
            <a:endParaRPr sz="2000">
              <a:latin typeface="Times New Roman"/>
              <a:cs typeface="Times New Roman"/>
            </a:endParaRPr>
          </a:p>
          <a:p>
            <a:pPr marL="297180" marR="181610" indent="-285115">
              <a:lnSpc>
                <a:spcPct val="100000"/>
              </a:lnSpc>
              <a:spcBef>
                <a:spcPts val="505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Better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understanding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machine structure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505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 spc="-10">
                <a:latin typeface="Times New Roman"/>
                <a:cs typeface="Times New Roman"/>
              </a:rPr>
              <a:t>Self-</a:t>
            </a:r>
            <a:r>
              <a:rPr dirty="0" sz="2000">
                <a:latin typeface="Times New Roman"/>
                <a:cs typeface="Times New Roman"/>
              </a:rPr>
              <a:t>paced </a:t>
            </a:r>
            <a:r>
              <a:rPr dirty="0" sz="2000" spc="-10">
                <a:latin typeface="Times New Roman"/>
                <a:cs typeface="Times New Roman"/>
              </a:rPr>
              <a:t>learning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495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Safety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awareness</a:t>
            </a:r>
            <a:endParaRPr sz="2000">
              <a:latin typeface="Times New Roman"/>
              <a:cs typeface="Times New Roman"/>
            </a:endParaRPr>
          </a:p>
          <a:p>
            <a:pPr marL="297180" marR="813435" indent="-285115">
              <a:lnSpc>
                <a:spcPct val="100000"/>
              </a:lnSpc>
              <a:spcBef>
                <a:spcPts val="505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Simulated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troubleshooting practice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500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Progress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tracking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495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Less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dependence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physical</a:t>
            </a:r>
            <a:endParaRPr sz="2000">
              <a:latin typeface="Times New Roman"/>
              <a:cs typeface="Times New Roman"/>
            </a:endParaRPr>
          </a:p>
          <a:p>
            <a:pPr marL="297180">
              <a:lnSpc>
                <a:spcPct val="100000"/>
              </a:lnSpc>
            </a:pPr>
            <a:r>
              <a:rPr dirty="0" sz="2000" spc="-10">
                <a:latin typeface="Times New Roman"/>
                <a:cs typeface="Times New Roman"/>
              </a:rPr>
              <a:t>equipment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48200" y="1219200"/>
            <a:ext cx="4038600" cy="5334000"/>
          </a:xfrm>
          <a:custGeom>
            <a:avLst/>
            <a:gdLst/>
            <a:ahLst/>
            <a:cxnLst/>
            <a:rect l="l" t="t" r="r" b="b"/>
            <a:pathLst>
              <a:path w="4038600" h="5334000">
                <a:moveTo>
                  <a:pt x="0" y="5334000"/>
                </a:moveTo>
                <a:lnTo>
                  <a:pt x="4038600" y="5334000"/>
                </a:lnTo>
                <a:lnTo>
                  <a:pt x="4038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35940" y="1241805"/>
            <a:ext cx="6096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03700" algn="l"/>
              </a:tabLst>
            </a:pPr>
            <a:r>
              <a:rPr dirty="0" sz="2400" spc="-10" b="1">
                <a:solidFill>
                  <a:srgbClr val="001F5F"/>
                </a:solidFill>
                <a:latin typeface="Times New Roman"/>
                <a:cs typeface="Times New Roman"/>
              </a:rPr>
              <a:t>Advantages</a:t>
            </a:r>
            <a:r>
              <a:rPr dirty="0" sz="2400" b="1">
                <a:solidFill>
                  <a:srgbClr val="001F5F"/>
                </a:solidFill>
                <a:latin typeface="Times New Roman"/>
                <a:cs typeface="Times New Roman"/>
              </a:rPr>
              <a:t>	</a:t>
            </a:r>
            <a:r>
              <a:rPr dirty="0" sz="2400" spc="-10" b="1">
                <a:solidFill>
                  <a:srgbClr val="001F5F"/>
                </a:solidFill>
                <a:latin typeface="Times New Roman"/>
                <a:cs typeface="Times New Roman"/>
              </a:rPr>
              <a:t>Disadvantages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85486" y="1673098"/>
            <a:ext cx="3799204" cy="4128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05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Cannot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replace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hands-</a:t>
            </a:r>
            <a:r>
              <a:rPr dirty="0" sz="2000" spc="-25">
                <a:latin typeface="Times New Roman"/>
                <a:cs typeface="Times New Roman"/>
              </a:rPr>
              <a:t>on</a:t>
            </a:r>
            <a:endParaRPr sz="2000">
              <a:latin typeface="Times New Roman"/>
              <a:cs typeface="Times New Roman"/>
            </a:endParaRPr>
          </a:p>
          <a:p>
            <a:pPr marL="297180">
              <a:lnSpc>
                <a:spcPct val="100000"/>
              </a:lnSpc>
            </a:pPr>
            <a:r>
              <a:rPr dirty="0" sz="2000" spc="-10">
                <a:latin typeface="Times New Roman"/>
                <a:cs typeface="Times New Roman"/>
              </a:rPr>
              <a:t>experience</a:t>
            </a:r>
            <a:endParaRPr sz="2000">
              <a:latin typeface="Times New Roman"/>
              <a:cs typeface="Times New Roman"/>
            </a:endParaRPr>
          </a:p>
          <a:p>
            <a:pPr marL="297180" marR="193040" indent="-285115">
              <a:lnSpc>
                <a:spcPct val="100000"/>
              </a:lnSpc>
              <a:spcBef>
                <a:spcPts val="495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3D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models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take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skill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to </a:t>
            </a:r>
            <a:r>
              <a:rPr dirty="0" sz="2000" spc="-10">
                <a:latin typeface="Times New Roman"/>
                <a:cs typeface="Times New Roman"/>
              </a:rPr>
              <a:t>build</a:t>
            </a:r>
            <a:endParaRPr sz="2000">
              <a:latin typeface="Times New Roman"/>
              <a:cs typeface="Times New Roman"/>
            </a:endParaRPr>
          </a:p>
          <a:p>
            <a:pPr marL="297180" marR="674370" indent="-285115">
              <a:lnSpc>
                <a:spcPct val="100000"/>
              </a:lnSpc>
              <a:spcBef>
                <a:spcPts val="500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Needs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reasonably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capable device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509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Needs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 stable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internet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connection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490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Limited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simulation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faults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505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Content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accuracy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affects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learning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505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Needs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regular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updates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490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Quizzes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replace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formal</a:t>
            </a:r>
            <a:endParaRPr sz="2000">
              <a:latin typeface="Times New Roman"/>
              <a:cs typeface="Times New Roman"/>
            </a:endParaRPr>
          </a:p>
          <a:p>
            <a:pPr marL="29718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safety</a:t>
            </a:r>
            <a:r>
              <a:rPr dirty="0" sz="2000" spc="-10">
                <a:latin typeface="Times New Roman"/>
                <a:cs typeface="Times New Roman"/>
              </a:rPr>
              <a:t> training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9" name="object 9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marL="2559685">
              <a:lnSpc>
                <a:spcPct val="100000"/>
              </a:lnSpc>
              <a:spcBef>
                <a:spcPts val="625"/>
              </a:spcBef>
            </a:pPr>
            <a:r>
              <a:rPr dirty="0" sz="4400"/>
              <a:t>5. </a:t>
            </a:r>
            <a:r>
              <a:rPr dirty="0" sz="4400" spc="-10"/>
              <a:t>Conclusion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93851" y="1345438"/>
            <a:ext cx="7992745" cy="3785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7180" marR="372745" indent="-28511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Industrial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Immersive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Training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Platform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proposed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web-</a:t>
            </a:r>
            <a:r>
              <a:rPr dirty="0" sz="2000" spc="-10">
                <a:latin typeface="Times New Roman"/>
                <a:cs typeface="Times New Roman"/>
              </a:rPr>
              <a:t>based </a:t>
            </a:r>
            <a:r>
              <a:rPr dirty="0" sz="2000">
                <a:latin typeface="Times New Roman"/>
                <a:cs typeface="Times New Roman"/>
              </a:rPr>
              <a:t>application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supports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industrial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through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interactive </a:t>
            </a:r>
            <a:r>
              <a:rPr dirty="0" sz="2000">
                <a:latin typeface="Times New Roman"/>
                <a:cs typeface="Times New Roman"/>
              </a:rPr>
              <a:t>digital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technology.</a:t>
            </a:r>
            <a:endParaRPr sz="2000">
              <a:latin typeface="Times New Roman"/>
              <a:cs typeface="Times New Roman"/>
            </a:endParaRPr>
          </a:p>
          <a:p>
            <a:pPr marL="297180" marR="124460" indent="-285115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brings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information,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3D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visualization,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component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identification, </a:t>
            </a:r>
            <a:r>
              <a:rPr dirty="0" sz="2000">
                <a:latin typeface="Times New Roman"/>
                <a:cs typeface="Times New Roman"/>
              </a:rPr>
              <a:t>simulated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troubleshooting,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safety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quizzes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into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place.</a:t>
            </a:r>
            <a:endParaRPr sz="2000">
              <a:latin typeface="Times New Roman"/>
              <a:cs typeface="Times New Roman"/>
            </a:endParaRPr>
          </a:p>
          <a:p>
            <a:pPr marL="297180" marR="312420" indent="-28511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Users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explore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models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 learn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about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components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web </a:t>
            </a:r>
            <a:r>
              <a:rPr dirty="0" sz="2000">
                <a:latin typeface="Times New Roman"/>
                <a:cs typeface="Times New Roman"/>
              </a:rPr>
              <a:t>browser,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without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headset.</a:t>
            </a:r>
            <a:endParaRPr sz="2000">
              <a:latin typeface="Times New Roman"/>
              <a:cs typeface="Times New Roman"/>
            </a:endParaRPr>
          </a:p>
          <a:p>
            <a:pPr marL="297180" marR="521970" indent="-28511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cannot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fully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replace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real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equipment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experience;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value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depends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on </a:t>
            </a:r>
            <a:r>
              <a:rPr dirty="0" sz="2000">
                <a:latin typeface="Times New Roman"/>
                <a:cs typeface="Times New Roman"/>
              </a:rPr>
              <a:t>model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quality,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content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accuracy,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successful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implementation.</a:t>
            </a:r>
            <a:endParaRPr sz="2000">
              <a:latin typeface="Times New Roman"/>
              <a:cs typeface="Times New Roman"/>
            </a:endParaRPr>
          </a:p>
          <a:p>
            <a:pPr marL="297180" marR="5080" indent="-285115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Future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scope: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models,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training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activities,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improved </a:t>
            </a:r>
            <a:r>
              <a:rPr dirty="0" sz="2000">
                <a:latin typeface="Times New Roman"/>
                <a:cs typeface="Times New Roman"/>
              </a:rPr>
              <a:t>interactive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features.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marL="1946910">
              <a:lnSpc>
                <a:spcPct val="100000"/>
              </a:lnSpc>
              <a:spcBef>
                <a:spcPts val="625"/>
              </a:spcBef>
            </a:pPr>
            <a:r>
              <a:rPr dirty="0" sz="4400"/>
              <a:t>6. Project</a:t>
            </a:r>
            <a:r>
              <a:rPr dirty="0" sz="4400" spc="-25"/>
              <a:t> </a:t>
            </a:r>
            <a:r>
              <a:rPr dirty="0" sz="4400" spc="-10"/>
              <a:t>Initiation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93851" y="1316885"/>
            <a:ext cx="5416550" cy="2375535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296545" indent="-283845">
              <a:lnSpc>
                <a:spcPct val="100000"/>
              </a:lnSpc>
              <a:spcBef>
                <a:spcPts val="925"/>
              </a:spcBef>
              <a:buSzPct val="120000"/>
              <a:buFont typeface="Arial"/>
              <a:buChar char="•"/>
              <a:tabLst>
                <a:tab pos="296545" algn="l"/>
              </a:tabLst>
            </a:pPr>
            <a:r>
              <a:rPr dirty="0" sz="2000" b="1">
                <a:latin typeface="Times New Roman"/>
                <a:cs typeface="Times New Roman"/>
              </a:rPr>
              <a:t>6.1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Description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problem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statement</a:t>
            </a:r>
            <a:endParaRPr sz="200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spcBef>
                <a:spcPts val="1395"/>
              </a:spcBef>
              <a:buSzPct val="120000"/>
              <a:buFont typeface="Arial"/>
              <a:buChar char="•"/>
              <a:tabLst>
                <a:tab pos="295910" algn="l"/>
              </a:tabLst>
            </a:pPr>
            <a:r>
              <a:rPr dirty="0" sz="2000" b="1">
                <a:latin typeface="Times New Roman"/>
                <a:cs typeface="Times New Roman"/>
              </a:rPr>
              <a:t>6.2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Scope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objectives</a:t>
            </a:r>
            <a:endParaRPr sz="2000">
              <a:latin typeface="Times New Roman"/>
              <a:cs typeface="Times New Roman"/>
            </a:endParaRPr>
          </a:p>
          <a:p>
            <a:pPr marL="296545" indent="-283845">
              <a:lnSpc>
                <a:spcPct val="100000"/>
              </a:lnSpc>
              <a:spcBef>
                <a:spcPts val="1405"/>
              </a:spcBef>
              <a:buSzPct val="120000"/>
              <a:buFont typeface="Arial"/>
              <a:buChar char="•"/>
              <a:tabLst>
                <a:tab pos="296545" algn="l"/>
              </a:tabLst>
            </a:pPr>
            <a:r>
              <a:rPr dirty="0" sz="2000" b="1">
                <a:latin typeface="Times New Roman"/>
                <a:cs typeface="Times New Roman"/>
              </a:rPr>
              <a:t>6.3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Stakeholders</a:t>
            </a:r>
            <a:endParaRPr sz="2000">
              <a:latin typeface="Times New Roman"/>
              <a:cs typeface="Times New Roman"/>
            </a:endParaRPr>
          </a:p>
          <a:p>
            <a:pPr marL="296545" indent="-283845">
              <a:lnSpc>
                <a:spcPct val="100000"/>
              </a:lnSpc>
              <a:spcBef>
                <a:spcPts val="1405"/>
              </a:spcBef>
              <a:buSzPct val="120000"/>
              <a:buFont typeface="Arial"/>
              <a:buChar char="•"/>
              <a:tabLst>
                <a:tab pos="296545" algn="l"/>
              </a:tabLst>
            </a:pPr>
            <a:r>
              <a:rPr dirty="0" sz="2000" b="1">
                <a:latin typeface="Times New Roman"/>
                <a:cs typeface="Times New Roman"/>
              </a:rPr>
              <a:t>6.4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Seminar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discussion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plan</a:t>
            </a:r>
            <a:endParaRPr sz="2000">
              <a:latin typeface="Times New Roman"/>
              <a:cs typeface="Times New Roman"/>
            </a:endParaRPr>
          </a:p>
          <a:p>
            <a:pPr marL="296545" indent="-283845">
              <a:lnSpc>
                <a:spcPct val="100000"/>
              </a:lnSpc>
              <a:spcBef>
                <a:spcPts val="1390"/>
              </a:spcBef>
              <a:buSzPct val="120000"/>
              <a:buFont typeface="Arial"/>
              <a:buChar char="•"/>
              <a:tabLst>
                <a:tab pos="296545" algn="l"/>
              </a:tabLst>
            </a:pPr>
            <a:r>
              <a:rPr dirty="0" sz="2000" b="1">
                <a:latin typeface="Times New Roman"/>
                <a:cs typeface="Times New Roman"/>
              </a:rPr>
              <a:t>6.5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Platform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/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equipment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/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resources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identification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304761"/>
            <a:ext cx="8229600" cy="1249045"/>
          </a:xfrm>
          <a:custGeom>
            <a:avLst/>
            <a:gdLst/>
            <a:ahLst/>
            <a:cxnLst/>
            <a:rect l="l" t="t" r="r" b="b"/>
            <a:pathLst>
              <a:path w="8229600" h="1249045">
                <a:moveTo>
                  <a:pt x="0" y="1248702"/>
                </a:moveTo>
                <a:lnTo>
                  <a:pt x="8229600" y="1248702"/>
                </a:lnTo>
                <a:lnTo>
                  <a:pt x="8229600" y="0"/>
                </a:lnTo>
                <a:lnTo>
                  <a:pt x="0" y="0"/>
                </a:lnTo>
                <a:lnTo>
                  <a:pt x="0" y="1248702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722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6.1</a:t>
            </a:r>
            <a:r>
              <a:rPr dirty="0" sz="4000" spc="-100"/>
              <a:t> </a:t>
            </a:r>
            <a:r>
              <a:rPr dirty="0" sz="4000"/>
              <a:t>Description</a:t>
            </a:r>
            <a:r>
              <a:rPr dirty="0" sz="4000" spc="-85"/>
              <a:t> </a:t>
            </a:r>
            <a:r>
              <a:rPr dirty="0" sz="4000"/>
              <a:t>of</a:t>
            </a:r>
            <a:r>
              <a:rPr dirty="0" sz="4000" spc="-100"/>
              <a:t> </a:t>
            </a:r>
            <a:r>
              <a:rPr dirty="0" sz="4000"/>
              <a:t>problem</a:t>
            </a:r>
            <a:r>
              <a:rPr dirty="0" sz="4000" spc="-95"/>
              <a:t> </a:t>
            </a:r>
            <a:r>
              <a:rPr dirty="0" sz="4000" spc="-10"/>
              <a:t>statement</a:t>
            </a:r>
            <a:endParaRPr sz="4000"/>
          </a:p>
        </p:txBody>
      </p:sp>
      <p:grpSp>
        <p:nvGrpSpPr>
          <p:cNvPr id="4" name="object 4"/>
          <p:cNvGrpSpPr/>
          <p:nvPr/>
        </p:nvGrpSpPr>
        <p:grpSpPr>
          <a:xfrm>
            <a:off x="444500" y="1255649"/>
            <a:ext cx="8255000" cy="5310505"/>
            <a:chOff x="444500" y="1255649"/>
            <a:chExt cx="8255000" cy="5310505"/>
          </a:xfrm>
        </p:grpSpPr>
        <p:sp>
          <p:nvSpPr>
            <p:cNvPr id="5" name="object 5"/>
            <p:cNvSpPr/>
            <p:nvPr/>
          </p:nvSpPr>
          <p:spPr>
            <a:xfrm>
              <a:off x="457200" y="1268349"/>
              <a:ext cx="8229600" cy="5285105"/>
            </a:xfrm>
            <a:custGeom>
              <a:avLst/>
              <a:gdLst/>
              <a:ahLst/>
              <a:cxnLst/>
              <a:rect l="l" t="t" r="r" b="b"/>
              <a:pathLst>
                <a:path w="8229600" h="5285105">
                  <a:moveTo>
                    <a:pt x="8229600" y="0"/>
                  </a:moveTo>
                  <a:lnTo>
                    <a:pt x="0" y="0"/>
                  </a:lnTo>
                  <a:lnTo>
                    <a:pt x="0" y="5284851"/>
                  </a:lnTo>
                  <a:lnTo>
                    <a:pt x="8229600" y="5284851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268349"/>
              <a:ext cx="8229600" cy="5285105"/>
            </a:xfrm>
            <a:custGeom>
              <a:avLst/>
              <a:gdLst/>
              <a:ahLst/>
              <a:cxnLst/>
              <a:rect l="l" t="t" r="r" b="b"/>
              <a:pathLst>
                <a:path w="8229600" h="5285105">
                  <a:moveTo>
                    <a:pt x="0" y="5284851"/>
                  </a:moveTo>
                  <a:lnTo>
                    <a:pt x="8229600" y="5284851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5284851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93851" y="1406474"/>
            <a:ext cx="7932420" cy="34182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Industrial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training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important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technical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education,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students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may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not </a:t>
            </a:r>
            <a:r>
              <a:rPr dirty="0" sz="2000">
                <a:latin typeface="Times New Roman"/>
                <a:cs typeface="Times New Roman"/>
              </a:rPr>
              <a:t>get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access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different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because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high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cost,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limited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availability,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maintenance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needs.</a:t>
            </a:r>
            <a:endParaRPr sz="2000">
              <a:latin typeface="Times New Roman"/>
              <a:cs typeface="Times New Roman"/>
            </a:endParaRPr>
          </a:p>
          <a:p>
            <a:pPr marL="297180" marR="1149985" indent="-285115">
              <a:lnSpc>
                <a:spcPct val="100000"/>
              </a:lnSpc>
              <a:spcBef>
                <a:spcPts val="900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Learning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only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textbooks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static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makes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machine </a:t>
            </a:r>
            <a:r>
              <a:rPr dirty="0" sz="2000">
                <a:latin typeface="Times New Roman"/>
                <a:cs typeface="Times New Roman"/>
              </a:rPr>
              <a:t>components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working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principles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hard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0">
                <a:latin typeface="Times New Roman"/>
                <a:cs typeface="Times New Roman"/>
              </a:rPr>
              <a:t> understand.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900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Need: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interactive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platform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information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29718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Times New Roman"/>
                <a:cs typeface="Times New Roman"/>
              </a:rPr>
              <a:t>digital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visualization.</a:t>
            </a:r>
            <a:endParaRPr sz="2000">
              <a:latin typeface="Times New Roman"/>
              <a:cs typeface="Times New Roman"/>
            </a:endParaRPr>
          </a:p>
          <a:p>
            <a:pPr marL="297180" marR="455295" indent="-285115">
              <a:lnSpc>
                <a:spcPct val="100000"/>
              </a:lnSpc>
              <a:spcBef>
                <a:spcPts val="900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Solution: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web-based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environment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explore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machines, </a:t>
            </a:r>
            <a:r>
              <a:rPr dirty="0" sz="2000" spc="-10">
                <a:latin typeface="Times New Roman"/>
                <a:cs typeface="Times New Roman"/>
              </a:rPr>
              <a:t>identify </a:t>
            </a:r>
            <a:r>
              <a:rPr dirty="0" sz="2000">
                <a:latin typeface="Times New Roman"/>
                <a:cs typeface="Times New Roman"/>
              </a:rPr>
              <a:t>components,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practise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simulated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troubleshooting,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basic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safety procedures.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9" name="object 9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74700"/>
            <a:ext cx="8229600" cy="2085339"/>
          </a:xfrm>
          <a:custGeom>
            <a:avLst/>
            <a:gdLst/>
            <a:ahLst/>
            <a:cxnLst/>
            <a:rect l="l" t="t" r="r" b="b"/>
            <a:pathLst>
              <a:path w="8229600" h="2085339">
                <a:moveTo>
                  <a:pt x="0" y="2085086"/>
                </a:moveTo>
                <a:lnTo>
                  <a:pt x="8229600" y="2085086"/>
                </a:lnTo>
                <a:lnTo>
                  <a:pt x="8229600" y="0"/>
                </a:lnTo>
                <a:lnTo>
                  <a:pt x="0" y="0"/>
                </a:lnTo>
                <a:lnTo>
                  <a:pt x="0" y="2085086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344" rIns="0" bIns="0" rtlCol="0" vert="horz">
            <a:spAutoFit/>
          </a:bodyPr>
          <a:lstStyle/>
          <a:p>
            <a:pPr marL="1334135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6.2 Scope</a:t>
            </a:r>
            <a:r>
              <a:rPr dirty="0" sz="4400" spc="-25"/>
              <a:t> </a:t>
            </a:r>
            <a:r>
              <a:rPr dirty="0" sz="4400"/>
              <a:t>and</a:t>
            </a:r>
            <a:r>
              <a:rPr dirty="0" sz="4400" spc="-25"/>
              <a:t> </a:t>
            </a:r>
            <a:r>
              <a:rPr dirty="0" sz="4400" spc="-10"/>
              <a:t>objectives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444500" y="1206500"/>
            <a:ext cx="8255000" cy="5359400"/>
            <a:chOff x="444500" y="1206500"/>
            <a:chExt cx="8255000" cy="5359400"/>
          </a:xfrm>
        </p:grpSpPr>
        <p:sp>
          <p:nvSpPr>
            <p:cNvPr id="5" name="object 5"/>
            <p:cNvSpPr/>
            <p:nvPr/>
          </p:nvSpPr>
          <p:spPr>
            <a:xfrm>
              <a:off x="457200" y="1219200"/>
              <a:ext cx="8229600" cy="5334000"/>
            </a:xfrm>
            <a:custGeom>
              <a:avLst/>
              <a:gdLst/>
              <a:ahLst/>
              <a:cxnLst/>
              <a:rect l="l" t="t" r="r" b="b"/>
              <a:pathLst>
                <a:path w="8229600" h="5334000">
                  <a:moveTo>
                    <a:pt x="8229600" y="0"/>
                  </a:moveTo>
                  <a:lnTo>
                    <a:pt x="0" y="0"/>
                  </a:lnTo>
                  <a:lnTo>
                    <a:pt x="0" y="5334000"/>
                  </a:lnTo>
                  <a:lnTo>
                    <a:pt x="8229600" y="53340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219200"/>
              <a:ext cx="8229600" cy="5334000"/>
            </a:xfrm>
            <a:custGeom>
              <a:avLst/>
              <a:gdLst/>
              <a:ahLst/>
              <a:cxnLst/>
              <a:rect l="l" t="t" r="r" b="b"/>
              <a:pathLst>
                <a:path w="8229600" h="5334000">
                  <a:moveTo>
                    <a:pt x="0" y="5334000"/>
                  </a:moveTo>
                  <a:lnTo>
                    <a:pt x="8229600" y="5334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5334000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pc="-10"/>
              <a:t>Scope</a:t>
            </a:r>
          </a:p>
          <a:p>
            <a:pPr marL="355600" marR="5080" indent="-285115">
              <a:lnSpc>
                <a:spcPct val="100000"/>
              </a:lnSpc>
              <a:spcBef>
                <a:spcPts val="320"/>
              </a:spcBef>
              <a:buSzPct val="90000"/>
              <a:buFont typeface="Arial"/>
              <a:buChar char="•"/>
              <a:tabLst>
                <a:tab pos="355600" algn="l"/>
              </a:tabLst>
            </a:pP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web-based</a:t>
            </a:r>
            <a:r>
              <a:rPr dirty="0" sz="2000" spc="-3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platform</a:t>
            </a:r>
            <a:r>
              <a:rPr dirty="0" sz="2000" spc="-5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dirty="0" sz="2000" spc="-2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basic</a:t>
            </a:r>
            <a:r>
              <a:rPr dirty="0" sz="2000" spc="-3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industrial</a:t>
            </a:r>
            <a:r>
              <a:rPr dirty="0" sz="2000" spc="-4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machine</a:t>
            </a:r>
            <a:r>
              <a:rPr dirty="0" sz="2000" spc="-1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training</a:t>
            </a:r>
            <a:r>
              <a:rPr dirty="0" sz="2000" spc="-5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dirty="0" sz="2000" spc="-1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machine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categories</a:t>
            </a:r>
            <a:r>
              <a:rPr dirty="0" sz="2000" spc="-6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dirty="0" sz="2000" spc="-3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search,</a:t>
            </a:r>
            <a:r>
              <a:rPr dirty="0" sz="2000" spc="-4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3D</a:t>
            </a:r>
            <a:r>
              <a:rPr dirty="0" sz="2000" spc="-2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visualization,</a:t>
            </a:r>
            <a:r>
              <a:rPr dirty="0" sz="2000" spc="-6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component</a:t>
            </a:r>
            <a:r>
              <a:rPr dirty="0" sz="2000" spc="-4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identification,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simulated</a:t>
            </a:r>
            <a:r>
              <a:rPr dirty="0" sz="2000" spc="-4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troubleshooting,</a:t>
            </a:r>
            <a:r>
              <a:rPr dirty="0" sz="2000" spc="-4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safety</a:t>
            </a:r>
            <a:r>
              <a:rPr dirty="0" sz="2000" spc="-3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quizzes,</a:t>
            </a:r>
            <a:r>
              <a:rPr dirty="0" sz="2000" spc="-4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user</a:t>
            </a:r>
            <a:r>
              <a:rPr dirty="0" sz="2000" spc="-3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accounts,</a:t>
            </a:r>
            <a:r>
              <a:rPr dirty="0" sz="2000" spc="-4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dirty="0" sz="2000" spc="-2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progress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tracking.</a:t>
            </a:r>
            <a:r>
              <a:rPr dirty="0" sz="2000" spc="-5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dirty="0" sz="2000" spc="-2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education</a:t>
            </a:r>
            <a:r>
              <a:rPr dirty="0" sz="2000" spc="-3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only;</a:t>
            </a:r>
            <a:r>
              <a:rPr dirty="0" sz="2000" spc="-3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supplements</a:t>
            </a:r>
            <a:r>
              <a:rPr dirty="0" sz="2000" spc="-4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workshop</a:t>
            </a:r>
            <a:r>
              <a:rPr dirty="0" sz="2000" spc="-4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training.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pc="-10"/>
              <a:t>Objectives</a:t>
            </a:r>
          </a:p>
          <a:p>
            <a:pPr marL="354965" indent="-284480">
              <a:lnSpc>
                <a:spcPct val="100000"/>
              </a:lnSpc>
              <a:spcBef>
                <a:spcPts val="315"/>
              </a:spcBef>
              <a:buSzPct val="90000"/>
              <a:buFont typeface="Arial"/>
              <a:buChar char="•"/>
              <a:tabLst>
                <a:tab pos="354965" algn="l"/>
              </a:tabLst>
            </a:pP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Develop</a:t>
            </a:r>
            <a:r>
              <a:rPr dirty="0" sz="2000" spc="-3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a web-based</a:t>
            </a:r>
            <a:r>
              <a:rPr dirty="0" sz="2000" spc="-4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industrial</a:t>
            </a:r>
            <a:r>
              <a:rPr dirty="0" sz="2000" spc="-4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training</a:t>
            </a:r>
            <a:r>
              <a:rPr dirty="0" sz="2000" spc="-3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platform</a:t>
            </a:r>
            <a:endParaRPr sz="2000">
              <a:latin typeface="Times New Roman"/>
              <a:cs typeface="Times New Roman"/>
            </a:endParaRPr>
          </a:p>
          <a:p>
            <a:pPr marL="354965" indent="-284480">
              <a:lnSpc>
                <a:spcPct val="100000"/>
              </a:lnSpc>
              <a:spcBef>
                <a:spcPts val="305"/>
              </a:spcBef>
              <a:buSzPct val="90000"/>
              <a:buFont typeface="Arial"/>
              <a:buChar char="•"/>
              <a:tabLst>
                <a:tab pos="354965" algn="l"/>
              </a:tabLst>
            </a:pP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Provide</a:t>
            </a:r>
            <a:r>
              <a:rPr dirty="0" sz="2000" spc="-6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information</a:t>
            </a:r>
            <a:r>
              <a:rPr dirty="0" sz="2000" spc="-5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machines</a:t>
            </a:r>
            <a:r>
              <a:rPr dirty="0" sz="2000" spc="-2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dirty="0" sz="2000" spc="-3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their</a:t>
            </a:r>
            <a:r>
              <a:rPr dirty="0" sz="2000" spc="-3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components</a:t>
            </a:r>
            <a:endParaRPr sz="2000">
              <a:latin typeface="Times New Roman"/>
              <a:cs typeface="Times New Roman"/>
            </a:endParaRPr>
          </a:p>
          <a:p>
            <a:pPr marL="354965" indent="-284480">
              <a:lnSpc>
                <a:spcPct val="100000"/>
              </a:lnSpc>
              <a:spcBef>
                <a:spcPts val="300"/>
              </a:spcBef>
              <a:buSzPct val="90000"/>
              <a:buFont typeface="Arial"/>
              <a:buChar char="•"/>
              <a:tabLst>
                <a:tab pos="354965" algn="l"/>
              </a:tabLst>
            </a:pP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Enable</a:t>
            </a:r>
            <a:r>
              <a:rPr dirty="0" sz="2000" spc="-4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interactive</a:t>
            </a:r>
            <a:r>
              <a:rPr dirty="0" sz="2000" spc="-4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3D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exploration</a:t>
            </a:r>
            <a:r>
              <a:rPr dirty="0" sz="2000" spc="-5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dirty="0" sz="2000" spc="-2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machine</a:t>
            </a:r>
            <a:r>
              <a:rPr dirty="0" sz="2000" spc="-2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models</a:t>
            </a:r>
            <a:endParaRPr sz="2000">
              <a:latin typeface="Times New Roman"/>
              <a:cs typeface="Times New Roman"/>
            </a:endParaRPr>
          </a:p>
          <a:p>
            <a:pPr marL="354965" indent="-284480">
              <a:lnSpc>
                <a:spcPct val="100000"/>
              </a:lnSpc>
              <a:spcBef>
                <a:spcPts val="300"/>
              </a:spcBef>
              <a:buSzPct val="90000"/>
              <a:buFont typeface="Arial"/>
              <a:buChar char="•"/>
              <a:tabLst>
                <a:tab pos="354965" algn="l"/>
              </a:tabLst>
            </a:pP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Provide</a:t>
            </a:r>
            <a:r>
              <a:rPr dirty="0" sz="2000" spc="-5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basic</a:t>
            </a:r>
            <a:r>
              <a:rPr dirty="0" sz="2000" spc="-2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component</a:t>
            </a:r>
            <a:r>
              <a:rPr dirty="0" sz="2000" spc="-4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identification</a:t>
            </a:r>
            <a:r>
              <a:rPr dirty="0" sz="2000" spc="-4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activities</a:t>
            </a:r>
            <a:endParaRPr sz="2000">
              <a:latin typeface="Times New Roman"/>
              <a:cs typeface="Times New Roman"/>
            </a:endParaRPr>
          </a:p>
          <a:p>
            <a:pPr marL="354965" indent="-284480">
              <a:lnSpc>
                <a:spcPct val="100000"/>
              </a:lnSpc>
              <a:spcBef>
                <a:spcPts val="300"/>
              </a:spcBef>
              <a:buSzPct val="90000"/>
              <a:buFont typeface="Arial"/>
              <a:buChar char="•"/>
              <a:tabLst>
                <a:tab pos="354965" algn="l"/>
              </a:tabLst>
            </a:pP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Support</a:t>
            </a:r>
            <a:r>
              <a:rPr dirty="0" sz="2000" spc="-5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  <a:r>
              <a:rPr dirty="0" sz="2000" spc="-4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through</a:t>
            </a:r>
            <a:r>
              <a:rPr dirty="0" sz="2000" spc="-4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simulated</a:t>
            </a:r>
            <a:r>
              <a:rPr dirty="0" sz="2000" spc="-1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troubleshooting</a:t>
            </a:r>
            <a:endParaRPr sz="2000">
              <a:latin typeface="Times New Roman"/>
              <a:cs typeface="Times New Roman"/>
            </a:endParaRPr>
          </a:p>
          <a:p>
            <a:pPr marL="354965" indent="-284480">
              <a:lnSpc>
                <a:spcPct val="100000"/>
              </a:lnSpc>
              <a:spcBef>
                <a:spcPts val="300"/>
              </a:spcBef>
              <a:buSzPct val="90000"/>
              <a:buFont typeface="Arial"/>
              <a:buChar char="•"/>
              <a:tabLst>
                <a:tab pos="354965" algn="l"/>
              </a:tabLst>
            </a:pP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Improve</a:t>
            </a:r>
            <a:r>
              <a:rPr dirty="0" sz="2000" spc="-5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safety</a:t>
            </a:r>
            <a:r>
              <a:rPr dirty="0" sz="2000" spc="-3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awareness</a:t>
            </a:r>
            <a:r>
              <a:rPr dirty="0" sz="2000" spc="-5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through</a:t>
            </a:r>
            <a:r>
              <a:rPr dirty="0" sz="2000" spc="-5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quizzes</a:t>
            </a:r>
            <a:endParaRPr sz="2000">
              <a:latin typeface="Times New Roman"/>
              <a:cs typeface="Times New Roman"/>
            </a:endParaRPr>
          </a:p>
          <a:p>
            <a:pPr marL="354965" indent="-284480">
              <a:lnSpc>
                <a:spcPct val="100000"/>
              </a:lnSpc>
              <a:spcBef>
                <a:spcPts val="300"/>
              </a:spcBef>
              <a:buSzPct val="90000"/>
              <a:buFont typeface="Arial"/>
              <a:buChar char="•"/>
              <a:tabLst>
                <a:tab pos="354965" algn="l"/>
              </a:tabLst>
            </a:pP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Let</a:t>
            </a:r>
            <a:r>
              <a:rPr dirty="0" sz="2000" spc="-2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users</a:t>
            </a:r>
            <a:r>
              <a:rPr dirty="0" sz="2000" spc="-3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review</a:t>
            </a:r>
            <a:r>
              <a:rPr dirty="0" sz="2000" spc="-3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their</a:t>
            </a:r>
            <a:r>
              <a:rPr dirty="0" sz="2000" spc="-3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  <a:r>
              <a:rPr dirty="0" sz="2000" spc="-4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imes New Roman"/>
                <a:cs typeface="Times New Roman"/>
              </a:rPr>
              <a:t>progress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9" name="object 9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74637"/>
            <a:ext cx="8229600" cy="944880"/>
          </a:xfrm>
          <a:custGeom>
            <a:avLst/>
            <a:gdLst/>
            <a:ahLst/>
            <a:cxnLst/>
            <a:rect l="l" t="t" r="r" b="b"/>
            <a:pathLst>
              <a:path w="8229600" h="944880">
                <a:moveTo>
                  <a:pt x="0" y="944562"/>
                </a:moveTo>
                <a:lnTo>
                  <a:pt x="8229600" y="944562"/>
                </a:lnTo>
                <a:lnTo>
                  <a:pt x="8229600" y="0"/>
                </a:lnTo>
                <a:lnTo>
                  <a:pt x="0" y="0"/>
                </a:lnTo>
                <a:lnTo>
                  <a:pt x="0" y="944562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7627" rIns="0" bIns="0" rtlCol="0" vert="horz">
            <a:spAutoFit/>
          </a:bodyPr>
          <a:lstStyle/>
          <a:p>
            <a:pPr marL="2249805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6.3</a:t>
            </a:r>
            <a:r>
              <a:rPr dirty="0" sz="4400" spc="-20"/>
              <a:t> </a:t>
            </a:r>
            <a:r>
              <a:rPr dirty="0" sz="4400" spc="-10"/>
              <a:t>Stakeholders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444500" y="1206500"/>
            <a:ext cx="8255000" cy="5359400"/>
            <a:chOff x="444500" y="1206500"/>
            <a:chExt cx="8255000" cy="5359400"/>
          </a:xfrm>
        </p:grpSpPr>
        <p:sp>
          <p:nvSpPr>
            <p:cNvPr id="5" name="object 5"/>
            <p:cNvSpPr/>
            <p:nvPr/>
          </p:nvSpPr>
          <p:spPr>
            <a:xfrm>
              <a:off x="457200" y="1219200"/>
              <a:ext cx="8229600" cy="5334000"/>
            </a:xfrm>
            <a:custGeom>
              <a:avLst/>
              <a:gdLst/>
              <a:ahLst/>
              <a:cxnLst/>
              <a:rect l="l" t="t" r="r" b="b"/>
              <a:pathLst>
                <a:path w="8229600" h="5334000">
                  <a:moveTo>
                    <a:pt x="8229600" y="0"/>
                  </a:moveTo>
                  <a:lnTo>
                    <a:pt x="0" y="0"/>
                  </a:lnTo>
                  <a:lnTo>
                    <a:pt x="0" y="5334000"/>
                  </a:lnTo>
                  <a:lnTo>
                    <a:pt x="8229600" y="53340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219200"/>
              <a:ext cx="8229600" cy="5334000"/>
            </a:xfrm>
            <a:custGeom>
              <a:avLst/>
              <a:gdLst/>
              <a:ahLst/>
              <a:cxnLst/>
              <a:rect l="l" t="t" r="r" b="b"/>
              <a:pathLst>
                <a:path w="8229600" h="5334000">
                  <a:moveTo>
                    <a:pt x="0" y="5334000"/>
                  </a:moveTo>
                  <a:lnTo>
                    <a:pt x="8229600" y="5334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5334000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93851" y="1245463"/>
            <a:ext cx="7636509" cy="307276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Students: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about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industrial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components.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Teachers: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platform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supplementary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teaching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resource.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810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Factory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employees: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revise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basic</a:t>
            </a:r>
            <a:r>
              <a:rPr dirty="0" sz="2000" spc="-10">
                <a:latin typeface="Times New Roman"/>
                <a:cs typeface="Times New Roman"/>
              </a:rPr>
              <a:t> machine-</a:t>
            </a:r>
            <a:r>
              <a:rPr dirty="0" sz="2000">
                <a:latin typeface="Times New Roman"/>
                <a:cs typeface="Times New Roman"/>
              </a:rPr>
              <a:t>related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concepts.</a:t>
            </a:r>
            <a:endParaRPr sz="2000">
              <a:latin typeface="Times New Roman"/>
              <a:cs typeface="Times New Roman"/>
            </a:endParaRPr>
          </a:p>
          <a:p>
            <a:pPr marL="297180" marR="585470" indent="-28511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Institution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administrators: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institution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learning resources.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Platform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administrators: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accounts,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information,</a:t>
            </a:r>
            <a:endParaRPr sz="2000">
              <a:latin typeface="Times New Roman"/>
              <a:cs typeface="Times New Roman"/>
            </a:endParaRPr>
          </a:p>
          <a:p>
            <a:pPr marL="297180">
              <a:lnSpc>
                <a:spcPct val="100000"/>
              </a:lnSpc>
            </a:pP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content.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Project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developers: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design,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develop,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test,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maintain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application.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9" name="object 9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74700"/>
            <a:ext cx="8229600" cy="1475740"/>
          </a:xfrm>
          <a:custGeom>
            <a:avLst/>
            <a:gdLst/>
            <a:ahLst/>
            <a:cxnLst/>
            <a:rect l="l" t="t" r="r" b="b"/>
            <a:pathLst>
              <a:path w="8229600" h="1475739">
                <a:moveTo>
                  <a:pt x="0" y="1475486"/>
                </a:moveTo>
                <a:lnTo>
                  <a:pt x="8229600" y="1475486"/>
                </a:lnTo>
                <a:lnTo>
                  <a:pt x="8229600" y="0"/>
                </a:lnTo>
                <a:lnTo>
                  <a:pt x="0" y="0"/>
                </a:lnTo>
                <a:lnTo>
                  <a:pt x="0" y="1475486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344" rIns="0" bIns="0" rtlCol="0" vert="horz">
            <a:spAutoFit/>
          </a:bodyPr>
          <a:lstStyle/>
          <a:p>
            <a:pPr marL="977265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6.4</a:t>
            </a:r>
            <a:r>
              <a:rPr dirty="0" sz="4400" spc="-10"/>
              <a:t> </a:t>
            </a:r>
            <a:r>
              <a:rPr dirty="0" sz="4400"/>
              <a:t>Seminar</a:t>
            </a:r>
            <a:r>
              <a:rPr dirty="0" sz="4400" spc="-10"/>
              <a:t> </a:t>
            </a:r>
            <a:r>
              <a:rPr dirty="0" sz="4400"/>
              <a:t>discussion</a:t>
            </a:r>
            <a:r>
              <a:rPr dirty="0" sz="4400" spc="-50"/>
              <a:t> </a:t>
            </a:r>
            <a:r>
              <a:rPr dirty="0" sz="4400" spc="-20"/>
              <a:t>plan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444500" y="1206500"/>
            <a:ext cx="8255000" cy="5359400"/>
            <a:chOff x="444500" y="1206500"/>
            <a:chExt cx="8255000" cy="5359400"/>
          </a:xfrm>
        </p:grpSpPr>
        <p:sp>
          <p:nvSpPr>
            <p:cNvPr id="5" name="object 5"/>
            <p:cNvSpPr/>
            <p:nvPr/>
          </p:nvSpPr>
          <p:spPr>
            <a:xfrm>
              <a:off x="457200" y="1219200"/>
              <a:ext cx="8229600" cy="5334000"/>
            </a:xfrm>
            <a:custGeom>
              <a:avLst/>
              <a:gdLst/>
              <a:ahLst/>
              <a:cxnLst/>
              <a:rect l="l" t="t" r="r" b="b"/>
              <a:pathLst>
                <a:path w="8229600" h="5334000">
                  <a:moveTo>
                    <a:pt x="8229600" y="0"/>
                  </a:moveTo>
                  <a:lnTo>
                    <a:pt x="0" y="0"/>
                  </a:lnTo>
                  <a:lnTo>
                    <a:pt x="0" y="5334000"/>
                  </a:lnTo>
                  <a:lnTo>
                    <a:pt x="8229600" y="53340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219200"/>
              <a:ext cx="8229600" cy="5334000"/>
            </a:xfrm>
            <a:custGeom>
              <a:avLst/>
              <a:gdLst/>
              <a:ahLst/>
              <a:cxnLst/>
              <a:rect l="l" t="t" r="r" b="b"/>
              <a:pathLst>
                <a:path w="8229600" h="5334000">
                  <a:moveTo>
                    <a:pt x="0" y="5334000"/>
                  </a:moveTo>
                  <a:lnTo>
                    <a:pt x="8229600" y="5334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5334000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93851" y="1245463"/>
            <a:ext cx="6030595" cy="3275329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Introduction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industrial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immersive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technology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Need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interactive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industrial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training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810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Overview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Industrial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Immersive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Training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Platform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Proposed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-10">
                <a:latin typeface="Times New Roman"/>
                <a:cs typeface="Times New Roman"/>
              </a:rPr>
              <a:t> features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Technologies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required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development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Advantages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disadvantages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Possible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applications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future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improvements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297180" algn="l"/>
              </a:tabLst>
            </a:pPr>
            <a:r>
              <a:rPr dirty="0" sz="2000">
                <a:latin typeface="Times New Roman"/>
                <a:cs typeface="Times New Roman"/>
              </a:rPr>
              <a:t>Conclusion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questions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audience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9" name="object 9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74574"/>
            <a:ext cx="8229600" cy="1298575"/>
          </a:xfrm>
          <a:custGeom>
            <a:avLst/>
            <a:gdLst/>
            <a:ahLst/>
            <a:cxnLst/>
            <a:rect l="l" t="t" r="r" b="b"/>
            <a:pathLst>
              <a:path w="8229600" h="1298575">
                <a:moveTo>
                  <a:pt x="0" y="1298575"/>
                </a:moveTo>
                <a:lnTo>
                  <a:pt x="8229600" y="1298575"/>
                </a:lnTo>
                <a:lnTo>
                  <a:pt x="8229600" y="0"/>
                </a:lnTo>
                <a:lnTo>
                  <a:pt x="0" y="0"/>
                </a:lnTo>
                <a:lnTo>
                  <a:pt x="0" y="1298575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6154" rIns="0" bIns="0" rtlCol="0" vert="horz">
            <a:spAutoFit/>
          </a:bodyPr>
          <a:lstStyle/>
          <a:p>
            <a:pPr marL="672465">
              <a:lnSpc>
                <a:spcPct val="100000"/>
              </a:lnSpc>
              <a:spcBef>
                <a:spcPts val="100"/>
              </a:spcBef>
            </a:pPr>
            <a:r>
              <a:rPr dirty="0"/>
              <a:t>6.5</a:t>
            </a:r>
            <a:r>
              <a:rPr dirty="0" spc="-60"/>
              <a:t> </a:t>
            </a:r>
            <a:r>
              <a:rPr dirty="0"/>
              <a:t>Platform</a:t>
            </a:r>
            <a:r>
              <a:rPr dirty="0" spc="-65"/>
              <a:t> </a:t>
            </a:r>
            <a:r>
              <a:rPr dirty="0"/>
              <a:t>/</a:t>
            </a:r>
            <a:r>
              <a:rPr dirty="0" spc="-60"/>
              <a:t> </a:t>
            </a:r>
            <a:r>
              <a:rPr dirty="0"/>
              <a:t>Equipment</a:t>
            </a:r>
            <a:r>
              <a:rPr dirty="0" spc="-50"/>
              <a:t> </a:t>
            </a:r>
            <a:r>
              <a:rPr dirty="0"/>
              <a:t>/</a:t>
            </a:r>
            <a:r>
              <a:rPr dirty="0" spc="-60"/>
              <a:t> </a:t>
            </a:r>
            <a:r>
              <a:rPr dirty="0" spc="-10"/>
              <a:t>Resources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44500" y="1206500"/>
            <a:ext cx="8255000" cy="5359400"/>
            <a:chOff x="444500" y="1206500"/>
            <a:chExt cx="8255000" cy="5359400"/>
          </a:xfrm>
        </p:grpSpPr>
        <p:sp>
          <p:nvSpPr>
            <p:cNvPr id="5" name="object 5"/>
            <p:cNvSpPr/>
            <p:nvPr/>
          </p:nvSpPr>
          <p:spPr>
            <a:xfrm>
              <a:off x="457200" y="1219200"/>
              <a:ext cx="8229600" cy="5334000"/>
            </a:xfrm>
            <a:custGeom>
              <a:avLst/>
              <a:gdLst/>
              <a:ahLst/>
              <a:cxnLst/>
              <a:rect l="l" t="t" r="r" b="b"/>
              <a:pathLst>
                <a:path w="8229600" h="5334000">
                  <a:moveTo>
                    <a:pt x="8229600" y="0"/>
                  </a:moveTo>
                  <a:lnTo>
                    <a:pt x="0" y="0"/>
                  </a:lnTo>
                  <a:lnTo>
                    <a:pt x="0" y="5334000"/>
                  </a:lnTo>
                  <a:lnTo>
                    <a:pt x="8229600" y="53340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219200"/>
              <a:ext cx="8229600" cy="5334000"/>
            </a:xfrm>
            <a:custGeom>
              <a:avLst/>
              <a:gdLst/>
              <a:ahLst/>
              <a:cxnLst/>
              <a:rect l="l" t="t" r="r" b="b"/>
              <a:pathLst>
                <a:path w="8229600" h="5334000">
                  <a:moveTo>
                    <a:pt x="0" y="5334000"/>
                  </a:moveTo>
                  <a:lnTo>
                    <a:pt x="8229600" y="5334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5334000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93851" y="1245463"/>
            <a:ext cx="7301865" cy="370840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590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Laptop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/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Computer: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develop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test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application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490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Antigravity: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assist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application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development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coding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505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HTML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CSS: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structure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style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web </a:t>
            </a:r>
            <a:r>
              <a:rPr dirty="0" sz="2000" spc="-10">
                <a:latin typeface="Times New Roman"/>
                <a:cs typeface="Times New Roman"/>
              </a:rPr>
              <a:t>pages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509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JavaScript: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application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logic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interactivity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490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React: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build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interface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505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Three.js: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display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interact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3D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</a:t>
            </a:r>
            <a:r>
              <a:rPr dirty="0" sz="2000" spc="-10">
                <a:latin typeface="Times New Roman"/>
                <a:cs typeface="Times New Roman"/>
              </a:rPr>
              <a:t> models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505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MySQL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Database: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store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490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3D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Machine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Models: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digital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representations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industrial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equipment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505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Web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Browser: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access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test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application</a:t>
            </a:r>
            <a:endParaRPr sz="20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505"/>
              </a:spcBef>
              <a:buSzPct val="90000"/>
              <a:buFont typeface="Arial"/>
              <a:buChar char="•"/>
              <a:tabLst>
                <a:tab pos="297180" algn="l"/>
              </a:tabLst>
            </a:pPr>
            <a:r>
              <a:rPr dirty="0" sz="2000" b="1">
                <a:latin typeface="Times New Roman"/>
                <a:cs typeface="Times New Roman"/>
              </a:rPr>
              <a:t>Internet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Connection: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online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tools,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libraries,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services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9" name="object 9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8575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dirty="0" sz="4400" spc="-10"/>
              <a:t>Bibliography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8575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5940" y="1139705"/>
            <a:ext cx="7983855" cy="441007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9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500" spc="-10" b="1">
                <a:latin typeface="Times New Roman"/>
                <a:cs typeface="Times New Roman"/>
              </a:rPr>
              <a:t>Books</a:t>
            </a:r>
            <a:endParaRPr sz="3500">
              <a:latin typeface="Times New Roman"/>
              <a:cs typeface="Times New Roman"/>
            </a:endParaRPr>
          </a:p>
          <a:p>
            <a:pPr lvl="1" marL="469900" marR="5080" indent="-342900">
              <a:lnSpc>
                <a:spcPct val="100000"/>
              </a:lnSpc>
              <a:spcBef>
                <a:spcPts val="445"/>
              </a:spcBef>
              <a:buSzPct val="90000"/>
              <a:buFont typeface="Arial"/>
              <a:buChar char="•"/>
              <a:tabLst>
                <a:tab pos="469900" algn="l"/>
              </a:tabLst>
            </a:pPr>
            <a:r>
              <a:rPr dirty="0" sz="2000">
                <a:latin typeface="Times New Roman"/>
                <a:cs typeface="Times New Roman"/>
              </a:rPr>
              <a:t>Burdea,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G. C.,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&amp;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Coiffet,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P.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(2003).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Virtual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Reality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Technology</a:t>
            </a:r>
            <a:r>
              <a:rPr dirty="0" sz="2000" spc="-30" i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(2nd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ed.). </a:t>
            </a:r>
            <a:r>
              <a:rPr dirty="0" sz="2000">
                <a:latin typeface="Times New Roman"/>
                <a:cs typeface="Times New Roman"/>
              </a:rPr>
              <a:t>Wiley-IEEE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Press.</a:t>
            </a:r>
            <a:endParaRPr sz="2000">
              <a:latin typeface="Times New Roman"/>
              <a:cs typeface="Times New Roman"/>
            </a:endParaRPr>
          </a:p>
          <a:p>
            <a:pPr lvl="1" marL="469900" marR="346710" indent="-342900">
              <a:lnSpc>
                <a:spcPct val="100000"/>
              </a:lnSpc>
              <a:spcBef>
                <a:spcPts val="409"/>
              </a:spcBef>
              <a:buSzPct val="90000"/>
              <a:buFont typeface="Arial"/>
              <a:buChar char="•"/>
              <a:tabLst>
                <a:tab pos="469900" algn="l"/>
              </a:tabLst>
            </a:pPr>
            <a:r>
              <a:rPr dirty="0" sz="2000">
                <a:latin typeface="Times New Roman"/>
                <a:cs typeface="Times New Roman"/>
              </a:rPr>
              <a:t>Craig,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A.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B. (2013).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Understanding</a:t>
            </a:r>
            <a:r>
              <a:rPr dirty="0" sz="2000" spc="-4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Augmented</a:t>
            </a:r>
            <a:r>
              <a:rPr dirty="0" sz="2000" spc="-3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Reality: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Concepts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25" i="1">
                <a:latin typeface="Times New Roman"/>
                <a:cs typeface="Times New Roman"/>
              </a:rPr>
              <a:t>and </a:t>
            </a:r>
            <a:r>
              <a:rPr dirty="0" sz="2000" i="1">
                <a:latin typeface="Times New Roman"/>
                <a:cs typeface="Times New Roman"/>
              </a:rPr>
              <a:t>Applications</a:t>
            </a:r>
            <a:r>
              <a:rPr dirty="0" sz="2000">
                <a:latin typeface="Times New Roman"/>
                <a:cs typeface="Times New Roman"/>
              </a:rPr>
              <a:t>.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Morgan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Kaufmann.</a:t>
            </a:r>
            <a:endParaRPr sz="2000">
              <a:latin typeface="Times New Roman"/>
              <a:cs typeface="Times New Roman"/>
            </a:endParaRPr>
          </a:p>
          <a:p>
            <a:pPr lvl="1" marL="469265" indent="-342265">
              <a:lnSpc>
                <a:spcPct val="100000"/>
              </a:lnSpc>
              <a:spcBef>
                <a:spcPts val="395"/>
              </a:spcBef>
              <a:buSzPct val="90000"/>
              <a:buFont typeface="Arial"/>
              <a:buChar char="•"/>
              <a:tabLst>
                <a:tab pos="469265" algn="l"/>
              </a:tabLst>
            </a:pPr>
            <a:r>
              <a:rPr dirty="0" sz="2000">
                <a:latin typeface="Times New Roman"/>
                <a:cs typeface="Times New Roman"/>
              </a:rPr>
              <a:t>Sherman,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W.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R., &amp;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Craig,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A.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B.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(2003).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Understanding</a:t>
            </a:r>
            <a:r>
              <a:rPr dirty="0" sz="2000" spc="-3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Virtual</a:t>
            </a:r>
            <a:r>
              <a:rPr dirty="0" sz="2000" spc="-35" i="1">
                <a:latin typeface="Times New Roman"/>
                <a:cs typeface="Times New Roman"/>
              </a:rPr>
              <a:t> </a:t>
            </a:r>
            <a:r>
              <a:rPr dirty="0" sz="2000" spc="-10" i="1">
                <a:latin typeface="Times New Roman"/>
                <a:cs typeface="Times New Roman"/>
              </a:rPr>
              <a:t>Reality: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2000" i="1">
                <a:latin typeface="Times New Roman"/>
                <a:cs typeface="Times New Roman"/>
              </a:rPr>
              <a:t>Interface,</a:t>
            </a:r>
            <a:r>
              <a:rPr dirty="0" sz="2000" spc="-5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Application,</a:t>
            </a:r>
            <a:r>
              <a:rPr dirty="0" sz="2000" spc="-4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and</a:t>
            </a:r>
            <a:r>
              <a:rPr dirty="0" sz="2000" spc="-3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Design</a:t>
            </a:r>
            <a:r>
              <a:rPr dirty="0" sz="2000">
                <a:latin typeface="Times New Roman"/>
                <a:cs typeface="Times New Roman"/>
              </a:rPr>
              <a:t>.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Morgan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Kaufmann.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500" spc="-10" b="1">
                <a:latin typeface="Times New Roman"/>
                <a:cs typeface="Times New Roman"/>
              </a:rPr>
              <a:t>Websites</a:t>
            </a:r>
            <a:endParaRPr sz="3500">
              <a:latin typeface="Times New Roman"/>
              <a:cs typeface="Times New Roman"/>
            </a:endParaRPr>
          </a:p>
          <a:p>
            <a:pPr marL="203200" marR="3239770" indent="12065">
              <a:lnSpc>
                <a:spcPct val="125000"/>
              </a:lnSpc>
              <a:spcBef>
                <a:spcPts val="50"/>
              </a:spcBef>
            </a:pPr>
            <a:r>
              <a:rPr dirty="0" u="sng" sz="2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https://doi.org/10.1016/j.ssci.2023.106214</a:t>
            </a:r>
            <a:r>
              <a:rPr dirty="0" sz="2000" spc="-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u="sng" sz="2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https://doi.org/10.1016/j.ssci.2025.106804</a:t>
            </a:r>
            <a:r>
              <a:rPr dirty="0" sz="2000" spc="-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u="sng" sz="20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https://doi.org/10.1016/j.simpa.2025.100790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dirty="0" sz="4400" spc="-10"/>
              <a:t>References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50240" y="1221994"/>
            <a:ext cx="7911465" cy="511873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355600" marR="109220" indent="-342900">
              <a:lnSpc>
                <a:spcPts val="2210"/>
              </a:lnSpc>
              <a:spcBef>
                <a:spcPts val="635"/>
              </a:spcBef>
              <a:buSzPct val="78260"/>
              <a:buFont typeface="Arial"/>
              <a:buChar char="•"/>
              <a:tabLst>
                <a:tab pos="355600" algn="l"/>
              </a:tabLst>
            </a:pPr>
            <a:r>
              <a:rPr dirty="0" sz="2300">
                <a:latin typeface="Times New Roman"/>
                <a:cs typeface="Times New Roman"/>
              </a:rPr>
              <a:t>Pratticò,</a:t>
            </a:r>
            <a:r>
              <a:rPr dirty="0" sz="2300" spc="-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F.</a:t>
            </a:r>
            <a:r>
              <a:rPr dirty="0" sz="2300" spc="-1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G.,</a:t>
            </a:r>
            <a:r>
              <a:rPr dirty="0" sz="2300" spc="-1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&amp;</a:t>
            </a:r>
            <a:r>
              <a:rPr dirty="0" sz="2300" spc="-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Lamberti,</a:t>
            </a:r>
            <a:r>
              <a:rPr dirty="0" sz="2300" spc="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F.</a:t>
            </a:r>
            <a:r>
              <a:rPr dirty="0" sz="2300" spc="-1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(2021).</a:t>
            </a:r>
            <a:r>
              <a:rPr dirty="0" sz="2300" spc="-95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Towards</a:t>
            </a:r>
            <a:r>
              <a:rPr dirty="0" sz="2300" spc="-1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the</a:t>
            </a:r>
            <a:r>
              <a:rPr dirty="0" sz="2300" spc="-1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Adoption</a:t>
            </a:r>
            <a:r>
              <a:rPr dirty="0" sz="2300" spc="-25" i="1">
                <a:latin typeface="Times New Roman"/>
                <a:cs typeface="Times New Roman"/>
              </a:rPr>
              <a:t> of </a:t>
            </a:r>
            <a:r>
              <a:rPr dirty="0" sz="2300" i="1">
                <a:latin typeface="Times New Roman"/>
                <a:cs typeface="Times New Roman"/>
              </a:rPr>
              <a:t>Virtual</a:t>
            </a:r>
            <a:r>
              <a:rPr dirty="0" sz="2300" spc="-2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Reality</a:t>
            </a:r>
            <a:r>
              <a:rPr dirty="0" sz="2300" spc="-1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Training</a:t>
            </a:r>
            <a:r>
              <a:rPr dirty="0" sz="2300" spc="-1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Systems</a:t>
            </a:r>
            <a:r>
              <a:rPr dirty="0" sz="2300" spc="-1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for</a:t>
            </a:r>
            <a:r>
              <a:rPr dirty="0" sz="2300" spc="-1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the</a:t>
            </a:r>
            <a:r>
              <a:rPr dirty="0" sz="2300" spc="-15" i="1">
                <a:latin typeface="Times New Roman"/>
                <a:cs typeface="Times New Roman"/>
              </a:rPr>
              <a:t> </a:t>
            </a:r>
            <a:r>
              <a:rPr dirty="0" sz="2300" spc="-25" i="1">
                <a:latin typeface="Times New Roman"/>
                <a:cs typeface="Times New Roman"/>
              </a:rPr>
              <a:t>Self-</a:t>
            </a:r>
            <a:r>
              <a:rPr dirty="0" sz="2300" i="1">
                <a:latin typeface="Times New Roman"/>
                <a:cs typeface="Times New Roman"/>
              </a:rPr>
              <a:t>Tuition</a:t>
            </a:r>
            <a:r>
              <a:rPr dirty="0" sz="2300" spc="-15" i="1">
                <a:latin typeface="Times New Roman"/>
                <a:cs typeface="Times New Roman"/>
              </a:rPr>
              <a:t> </a:t>
            </a:r>
            <a:r>
              <a:rPr dirty="0" sz="2300" spc="-25" i="1">
                <a:latin typeface="Times New Roman"/>
                <a:cs typeface="Times New Roman"/>
              </a:rPr>
              <a:t>of </a:t>
            </a:r>
            <a:r>
              <a:rPr dirty="0" sz="2300" i="1">
                <a:latin typeface="Times New Roman"/>
                <a:cs typeface="Times New Roman"/>
              </a:rPr>
              <a:t>Industrial</a:t>
            </a:r>
            <a:r>
              <a:rPr dirty="0" sz="2300" spc="-3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Robot</a:t>
            </a:r>
            <a:r>
              <a:rPr dirty="0" sz="2300" spc="-2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Operators:</a:t>
            </a:r>
            <a:r>
              <a:rPr dirty="0" sz="2300" spc="-2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A</a:t>
            </a:r>
            <a:r>
              <a:rPr dirty="0" sz="2300" spc="-2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Case</a:t>
            </a:r>
            <a:r>
              <a:rPr dirty="0" sz="2300" spc="-2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Study</a:t>
            </a:r>
            <a:r>
              <a:rPr dirty="0" sz="2300" spc="-2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at</a:t>
            </a:r>
            <a:r>
              <a:rPr dirty="0" sz="2300" spc="-20" i="1">
                <a:latin typeface="Times New Roman"/>
                <a:cs typeface="Times New Roman"/>
              </a:rPr>
              <a:t> </a:t>
            </a:r>
            <a:r>
              <a:rPr dirty="0" sz="2300" spc="-10" i="1">
                <a:latin typeface="Times New Roman"/>
                <a:cs typeface="Times New Roman"/>
              </a:rPr>
              <a:t>KUKA.</a:t>
            </a:r>
            <a:endParaRPr sz="2300">
              <a:latin typeface="Times New Roman"/>
              <a:cs typeface="Times New Roman"/>
            </a:endParaRPr>
          </a:p>
          <a:p>
            <a:pPr marL="355600" marR="34290" indent="-342900">
              <a:lnSpc>
                <a:spcPts val="2210"/>
              </a:lnSpc>
              <a:spcBef>
                <a:spcPts val="405"/>
              </a:spcBef>
              <a:buSzPct val="78260"/>
              <a:buFont typeface="Arial"/>
              <a:buChar char="•"/>
              <a:tabLst>
                <a:tab pos="355600" algn="l"/>
              </a:tabLst>
            </a:pPr>
            <a:r>
              <a:rPr dirty="0" sz="2300">
                <a:latin typeface="Times New Roman"/>
                <a:cs typeface="Times New Roman"/>
              </a:rPr>
              <a:t>Loizeau,</a:t>
            </a:r>
            <a:r>
              <a:rPr dirty="0" sz="2300" spc="-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Q.,</a:t>
            </a:r>
            <a:r>
              <a:rPr dirty="0" sz="2300" spc="-1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et</a:t>
            </a:r>
            <a:r>
              <a:rPr dirty="0" sz="2300" spc="-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al.</a:t>
            </a:r>
            <a:r>
              <a:rPr dirty="0" sz="2300" spc="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(2021).</a:t>
            </a:r>
            <a:r>
              <a:rPr dirty="0" sz="2300" spc="-70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Methodology</a:t>
            </a:r>
            <a:r>
              <a:rPr dirty="0" sz="2300" spc="-2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for</a:t>
            </a:r>
            <a:r>
              <a:rPr dirty="0" sz="2300" spc="-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the</a:t>
            </a:r>
            <a:r>
              <a:rPr dirty="0" sz="2300" spc="-1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Field</a:t>
            </a:r>
            <a:r>
              <a:rPr dirty="0" sz="2300" spc="10" i="1">
                <a:latin typeface="Times New Roman"/>
                <a:cs typeface="Times New Roman"/>
              </a:rPr>
              <a:t> </a:t>
            </a:r>
            <a:r>
              <a:rPr dirty="0" sz="2300" spc="-10" i="1">
                <a:latin typeface="Times New Roman"/>
                <a:cs typeface="Times New Roman"/>
              </a:rPr>
              <a:t>Evaluation </a:t>
            </a:r>
            <a:r>
              <a:rPr dirty="0" sz="2300" i="1">
                <a:latin typeface="Times New Roman"/>
                <a:cs typeface="Times New Roman"/>
              </a:rPr>
              <a:t>of</a:t>
            </a:r>
            <a:r>
              <a:rPr dirty="0" sz="2300" spc="-1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the Impact</a:t>
            </a:r>
            <a:r>
              <a:rPr dirty="0" sz="2300" spc="-1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of Augmented</a:t>
            </a:r>
            <a:r>
              <a:rPr dirty="0" sz="2300" spc="-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Reality Tools</a:t>
            </a:r>
            <a:r>
              <a:rPr dirty="0" sz="2300" spc="-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for </a:t>
            </a:r>
            <a:r>
              <a:rPr dirty="0" sz="2300" spc="-10" i="1">
                <a:latin typeface="Times New Roman"/>
                <a:cs typeface="Times New Roman"/>
              </a:rPr>
              <a:t>Maintenance </a:t>
            </a:r>
            <a:r>
              <a:rPr dirty="0" sz="2300" i="1">
                <a:latin typeface="Times New Roman"/>
                <a:cs typeface="Times New Roman"/>
              </a:rPr>
              <a:t>Workers</a:t>
            </a:r>
            <a:r>
              <a:rPr dirty="0" sz="2300" spc="-1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in</a:t>
            </a:r>
            <a:r>
              <a:rPr dirty="0" sz="2300" spc="-1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the</a:t>
            </a:r>
            <a:r>
              <a:rPr dirty="0" sz="2300" spc="-1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Aeronautic</a:t>
            </a:r>
            <a:r>
              <a:rPr dirty="0" sz="2300" spc="-10" i="1">
                <a:latin typeface="Times New Roman"/>
                <a:cs typeface="Times New Roman"/>
              </a:rPr>
              <a:t> Industry.</a:t>
            </a:r>
            <a:endParaRPr sz="2300">
              <a:latin typeface="Times New Roman"/>
              <a:cs typeface="Times New Roman"/>
            </a:endParaRPr>
          </a:p>
          <a:p>
            <a:pPr marL="355600" marR="82550" indent="-342900">
              <a:lnSpc>
                <a:spcPts val="2210"/>
              </a:lnSpc>
              <a:spcBef>
                <a:spcPts val="390"/>
              </a:spcBef>
              <a:buSzPct val="78260"/>
              <a:buFont typeface="Arial"/>
              <a:buChar char="•"/>
              <a:tabLst>
                <a:tab pos="355600" algn="l"/>
              </a:tabLst>
            </a:pPr>
            <a:r>
              <a:rPr dirty="0" sz="2300">
                <a:latin typeface="Times New Roman"/>
                <a:cs typeface="Times New Roman"/>
              </a:rPr>
              <a:t>BagheriFard,</a:t>
            </a:r>
            <a:r>
              <a:rPr dirty="0" sz="2300" spc="-1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Z.,</a:t>
            </a:r>
            <a:r>
              <a:rPr dirty="0" sz="2300" spc="-1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et</a:t>
            </a:r>
            <a:r>
              <a:rPr dirty="0" sz="2300" spc="-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al. (2025).</a:t>
            </a:r>
            <a:r>
              <a:rPr dirty="0" sz="2300" spc="-65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Situated</a:t>
            </a:r>
            <a:r>
              <a:rPr dirty="0" sz="2300" spc="-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Visualization</a:t>
            </a:r>
            <a:r>
              <a:rPr dirty="0" sz="2300" spc="-20" i="1">
                <a:latin typeface="Times New Roman"/>
                <a:cs typeface="Times New Roman"/>
              </a:rPr>
              <a:t> </a:t>
            </a:r>
            <a:r>
              <a:rPr dirty="0" sz="2300" spc="-10" i="1">
                <a:latin typeface="Times New Roman"/>
                <a:cs typeface="Times New Roman"/>
              </a:rPr>
              <a:t>Towards </a:t>
            </a:r>
            <a:r>
              <a:rPr dirty="0" sz="2300" i="1">
                <a:latin typeface="Times New Roman"/>
                <a:cs typeface="Times New Roman"/>
              </a:rPr>
              <a:t>Manufacturing</a:t>
            </a:r>
            <a:r>
              <a:rPr dirty="0" sz="2300" spc="-1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Maintenance</a:t>
            </a:r>
            <a:r>
              <a:rPr dirty="0" sz="2300" spc="-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Training:</a:t>
            </a:r>
            <a:r>
              <a:rPr dirty="0" sz="2300" spc="-3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Scoping</a:t>
            </a:r>
            <a:r>
              <a:rPr dirty="0" sz="2300" spc="-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Review,</a:t>
            </a:r>
            <a:r>
              <a:rPr dirty="0" sz="2300" spc="5" i="1">
                <a:latin typeface="Times New Roman"/>
                <a:cs typeface="Times New Roman"/>
              </a:rPr>
              <a:t> </a:t>
            </a:r>
            <a:r>
              <a:rPr dirty="0" sz="2300" spc="-10" i="1">
                <a:latin typeface="Times New Roman"/>
                <a:cs typeface="Times New Roman"/>
              </a:rPr>
              <a:t>Design </a:t>
            </a:r>
            <a:r>
              <a:rPr dirty="0" sz="2300" i="1">
                <a:latin typeface="Times New Roman"/>
                <a:cs typeface="Times New Roman"/>
              </a:rPr>
              <a:t>and</a:t>
            </a:r>
            <a:r>
              <a:rPr dirty="0" sz="2300" spc="-3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User</a:t>
            </a:r>
            <a:r>
              <a:rPr dirty="0" sz="2300" spc="-25" i="1">
                <a:latin typeface="Times New Roman"/>
                <a:cs typeface="Times New Roman"/>
              </a:rPr>
              <a:t> </a:t>
            </a:r>
            <a:r>
              <a:rPr dirty="0" sz="2300" spc="-10" i="1">
                <a:latin typeface="Times New Roman"/>
                <a:cs typeface="Times New Roman"/>
              </a:rPr>
              <a:t>Study.</a:t>
            </a:r>
            <a:endParaRPr sz="2300">
              <a:latin typeface="Times New Roman"/>
              <a:cs typeface="Times New Roman"/>
            </a:endParaRPr>
          </a:p>
          <a:p>
            <a:pPr marL="355600" marR="121920" indent="-342900">
              <a:lnSpc>
                <a:spcPts val="2210"/>
              </a:lnSpc>
              <a:spcBef>
                <a:spcPts val="390"/>
              </a:spcBef>
              <a:buSzPct val="78260"/>
              <a:buFont typeface="Arial"/>
              <a:buChar char="•"/>
              <a:tabLst>
                <a:tab pos="355600" algn="l"/>
              </a:tabLst>
            </a:pPr>
            <a:r>
              <a:rPr dirty="0" sz="2300">
                <a:latin typeface="Times New Roman"/>
                <a:cs typeface="Times New Roman"/>
              </a:rPr>
              <a:t>Babalola,</a:t>
            </a:r>
            <a:r>
              <a:rPr dirty="0" sz="2300" spc="-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A.,</a:t>
            </a:r>
            <a:r>
              <a:rPr dirty="0" sz="2300" spc="-1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et</a:t>
            </a:r>
            <a:r>
              <a:rPr dirty="0" sz="2300" spc="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al.</a:t>
            </a:r>
            <a:r>
              <a:rPr dirty="0" sz="2300" spc="-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(2023).</a:t>
            </a:r>
            <a:r>
              <a:rPr dirty="0" sz="2300" spc="-55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Applications</a:t>
            </a:r>
            <a:r>
              <a:rPr dirty="0" sz="2300" spc="-1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of</a:t>
            </a:r>
            <a:r>
              <a:rPr dirty="0" sz="2300" spc="-5" i="1">
                <a:latin typeface="Times New Roman"/>
                <a:cs typeface="Times New Roman"/>
              </a:rPr>
              <a:t> </a:t>
            </a:r>
            <a:r>
              <a:rPr dirty="0" sz="2300" spc="-10" i="1">
                <a:latin typeface="Times New Roman"/>
                <a:cs typeface="Times New Roman"/>
              </a:rPr>
              <a:t>Immersive </a:t>
            </a:r>
            <a:r>
              <a:rPr dirty="0" sz="2300" i="1">
                <a:latin typeface="Times New Roman"/>
                <a:cs typeface="Times New Roman"/>
              </a:rPr>
              <a:t>Technologies for Occupational</a:t>
            </a:r>
            <a:r>
              <a:rPr dirty="0" sz="2300" spc="-1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Safety</a:t>
            </a:r>
            <a:r>
              <a:rPr dirty="0" sz="2300" spc="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and</a:t>
            </a:r>
            <a:r>
              <a:rPr dirty="0" sz="2300" spc="-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Health</a:t>
            </a:r>
            <a:r>
              <a:rPr dirty="0" sz="2300" spc="-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Training </a:t>
            </a:r>
            <a:r>
              <a:rPr dirty="0" sz="2300" spc="-25" i="1">
                <a:latin typeface="Times New Roman"/>
                <a:cs typeface="Times New Roman"/>
              </a:rPr>
              <a:t>and </a:t>
            </a:r>
            <a:r>
              <a:rPr dirty="0" sz="2300" i="1">
                <a:latin typeface="Times New Roman"/>
                <a:cs typeface="Times New Roman"/>
              </a:rPr>
              <a:t>Education:</a:t>
            </a:r>
            <a:r>
              <a:rPr dirty="0" sz="2300" spc="-2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A</a:t>
            </a:r>
            <a:r>
              <a:rPr dirty="0" sz="2300" spc="-1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Systematic</a:t>
            </a:r>
            <a:r>
              <a:rPr dirty="0" sz="2300" spc="-15" i="1">
                <a:latin typeface="Times New Roman"/>
                <a:cs typeface="Times New Roman"/>
              </a:rPr>
              <a:t> </a:t>
            </a:r>
            <a:r>
              <a:rPr dirty="0" sz="2300" spc="-10" i="1">
                <a:latin typeface="Times New Roman"/>
                <a:cs typeface="Times New Roman"/>
              </a:rPr>
              <a:t>Review.</a:t>
            </a:r>
            <a:endParaRPr sz="2300">
              <a:latin typeface="Times New Roman"/>
              <a:cs typeface="Times New Roman"/>
            </a:endParaRPr>
          </a:p>
          <a:p>
            <a:pPr marL="354965" indent="-342265">
              <a:lnSpc>
                <a:spcPts val="2355"/>
              </a:lnSpc>
              <a:buSzPct val="78260"/>
              <a:buFont typeface="Arial"/>
              <a:buChar char="•"/>
              <a:tabLst>
                <a:tab pos="354965" algn="l"/>
              </a:tabLst>
            </a:pPr>
            <a:r>
              <a:rPr dirty="0" sz="2300">
                <a:latin typeface="Times New Roman"/>
                <a:cs typeface="Times New Roman"/>
              </a:rPr>
              <a:t>Dodoo,</a:t>
            </a:r>
            <a:r>
              <a:rPr dirty="0" sz="2300" spc="-2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J. E.,</a:t>
            </a:r>
            <a:r>
              <a:rPr dirty="0" sz="2300" spc="-1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et</a:t>
            </a:r>
            <a:r>
              <a:rPr dirty="0" sz="2300" spc="-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al.</a:t>
            </a:r>
            <a:r>
              <a:rPr dirty="0" sz="2300" spc="-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(2025).</a:t>
            </a:r>
            <a:r>
              <a:rPr dirty="0" sz="2300" spc="-75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XR</a:t>
            </a:r>
            <a:r>
              <a:rPr dirty="0" sz="2300" spc="-3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and</a:t>
            </a:r>
            <a:r>
              <a:rPr dirty="0" sz="2300" spc="-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Workers’</a:t>
            </a:r>
            <a:r>
              <a:rPr dirty="0" sz="2300" spc="-1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Safety in</a:t>
            </a:r>
            <a:r>
              <a:rPr dirty="0" sz="2300" spc="-10" i="1">
                <a:latin typeface="Times New Roman"/>
                <a:cs typeface="Times New Roman"/>
              </a:rPr>
              <a:t> High-</a:t>
            </a:r>
            <a:r>
              <a:rPr dirty="0" sz="2300" spc="-20" i="1">
                <a:latin typeface="Times New Roman"/>
                <a:cs typeface="Times New Roman"/>
              </a:rPr>
              <a:t>Risk</a:t>
            </a:r>
            <a:endParaRPr sz="2300">
              <a:latin typeface="Times New Roman"/>
              <a:cs typeface="Times New Roman"/>
            </a:endParaRPr>
          </a:p>
          <a:p>
            <a:pPr marL="355600">
              <a:lnSpc>
                <a:spcPts val="2405"/>
              </a:lnSpc>
            </a:pPr>
            <a:r>
              <a:rPr dirty="0" sz="2300" i="1">
                <a:latin typeface="Times New Roman"/>
                <a:cs typeface="Times New Roman"/>
              </a:rPr>
              <a:t>Industries:</a:t>
            </a:r>
            <a:r>
              <a:rPr dirty="0" sz="2300" spc="-2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A</a:t>
            </a:r>
            <a:r>
              <a:rPr dirty="0" sz="2300" spc="-2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Comprehensive</a:t>
            </a:r>
            <a:r>
              <a:rPr dirty="0" sz="2300" spc="-15" i="1">
                <a:latin typeface="Times New Roman"/>
                <a:cs typeface="Times New Roman"/>
              </a:rPr>
              <a:t> </a:t>
            </a:r>
            <a:r>
              <a:rPr dirty="0" sz="2300" spc="-10" i="1">
                <a:latin typeface="Times New Roman"/>
                <a:cs typeface="Times New Roman"/>
              </a:rPr>
              <a:t>Review.</a:t>
            </a:r>
            <a:endParaRPr sz="23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80000"/>
              </a:lnSpc>
              <a:spcBef>
                <a:spcPts val="475"/>
              </a:spcBef>
              <a:buSzPct val="78260"/>
              <a:buFont typeface="Arial"/>
              <a:buChar char="•"/>
              <a:tabLst>
                <a:tab pos="355600" algn="l"/>
              </a:tabLst>
            </a:pPr>
            <a:r>
              <a:rPr dirty="0" sz="2300">
                <a:latin typeface="Times New Roman"/>
                <a:cs typeface="Times New Roman"/>
              </a:rPr>
              <a:t>Lei, F.,</a:t>
            </a:r>
            <a:r>
              <a:rPr dirty="0" sz="2300" spc="-1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Singh, D.,</a:t>
            </a:r>
            <a:r>
              <a:rPr dirty="0" sz="2300" spc="-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&amp; Chun,</a:t>
            </a:r>
            <a:r>
              <a:rPr dirty="0" sz="2300" spc="-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L. M. (2026).</a:t>
            </a:r>
            <a:r>
              <a:rPr dirty="0" sz="2300" spc="-95">
                <a:latin typeface="Times New Roman"/>
                <a:cs typeface="Times New Roman"/>
              </a:rPr>
              <a:t> </a:t>
            </a:r>
            <a:r>
              <a:rPr dirty="0" sz="2300" spc="-10" i="1">
                <a:latin typeface="Times New Roman"/>
                <a:cs typeface="Times New Roman"/>
              </a:rPr>
              <a:t>VR-</a:t>
            </a:r>
            <a:r>
              <a:rPr dirty="0" sz="2300" i="1">
                <a:latin typeface="Times New Roman"/>
                <a:cs typeface="Times New Roman"/>
              </a:rPr>
              <a:t>ManuSafe:</a:t>
            </a:r>
            <a:r>
              <a:rPr dirty="0" sz="2300" spc="-35" i="1">
                <a:latin typeface="Times New Roman"/>
                <a:cs typeface="Times New Roman"/>
              </a:rPr>
              <a:t> </a:t>
            </a:r>
            <a:r>
              <a:rPr dirty="0" sz="2300" spc="-10" i="1">
                <a:latin typeface="Times New Roman"/>
                <a:cs typeface="Times New Roman"/>
              </a:rPr>
              <a:t>Virtual </a:t>
            </a:r>
            <a:r>
              <a:rPr dirty="0" sz="2300" i="1">
                <a:latin typeface="Times New Roman"/>
                <a:cs typeface="Times New Roman"/>
              </a:rPr>
              <a:t>Reality</a:t>
            </a:r>
            <a:r>
              <a:rPr dirty="0" sz="2300" spc="-1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Learning</a:t>
            </a:r>
            <a:r>
              <a:rPr dirty="0" sz="2300" spc="-1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Environment</a:t>
            </a:r>
            <a:r>
              <a:rPr dirty="0" sz="2300" spc="-20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for</a:t>
            </a:r>
            <a:r>
              <a:rPr dirty="0" sz="2300" spc="-5" i="1">
                <a:latin typeface="Times New Roman"/>
                <a:cs typeface="Times New Roman"/>
              </a:rPr>
              <a:t> </a:t>
            </a:r>
            <a:r>
              <a:rPr dirty="0" sz="2300" i="1">
                <a:latin typeface="Times New Roman"/>
                <a:cs typeface="Times New Roman"/>
              </a:rPr>
              <a:t>Manufacturing</a:t>
            </a:r>
            <a:r>
              <a:rPr dirty="0" sz="2300" spc="-15" i="1">
                <a:latin typeface="Times New Roman"/>
                <a:cs typeface="Times New Roman"/>
              </a:rPr>
              <a:t> </a:t>
            </a:r>
            <a:r>
              <a:rPr dirty="0" sz="2300" spc="-10" i="1">
                <a:latin typeface="Times New Roman"/>
                <a:cs typeface="Times New Roman"/>
              </a:rPr>
              <a:t>Safety Training.</a:t>
            </a:r>
            <a:endParaRPr sz="23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47800" y="2810103"/>
            <a:ext cx="6248400" cy="1200785"/>
          </a:xfrm>
          <a:prstGeom prst="rect"/>
          <a:ln w="28575">
            <a:solidFill>
              <a:srgbClr val="4F81BC"/>
            </a:solidFill>
          </a:ln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7200" b="1">
                <a:solidFill>
                  <a:srgbClr val="252525"/>
                </a:solidFill>
                <a:latin typeface="Times New Roman"/>
                <a:cs typeface="Times New Roman"/>
              </a:rPr>
              <a:t>Thank</a:t>
            </a:r>
            <a:r>
              <a:rPr dirty="0" sz="7200" spc="-30" b="1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 sz="7200" spc="-25" b="1">
                <a:solidFill>
                  <a:srgbClr val="252525"/>
                </a:solidFill>
                <a:latin typeface="Times New Roman"/>
                <a:cs typeface="Times New Roman"/>
              </a:rPr>
              <a:t>you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30006" y="6447975"/>
            <a:ext cx="17780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 spc="-25">
                <a:solidFill>
                  <a:srgbClr val="878787"/>
                </a:solidFill>
                <a:latin typeface="Times New Roman"/>
                <a:cs typeface="Times New Roman"/>
              </a:rPr>
              <a:t>20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RAJRATN KEDAR</dc:creator>
  <dcterms:created xsi:type="dcterms:W3CDTF">2026-10-19T07:00:34Z</dcterms:created>
  <dcterms:modified xsi:type="dcterms:W3CDTF">2026-10-19T07:00:34Z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2026-10-18T00:00:00Z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2026-10-19T00:00:00Z</vt:filetime>
  </property>
  <property fmtid="{D5CDD505-2E9C-101B-9397-08002B2CF9AE}" pid="6" name="Producer">
    <vt:lpwstr>Microsoft® PowerPoint® 2021</vt:lpwstr>
  </property>
</Properties>
</file>